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25"/>
    <p:sldId id="266" r:id="rId26"/>
  </p:sldIdLst>
  <p:sldSz cx="12192000" cy="6858000"/>
  <p:notesSz cx="6858000" cy="9144000"/>
  <p:embeddedFontLst>
    <p:embeddedFont>
      <p:font typeface="Inter" panose="02000503000000020004" pitchFamily="2" charset="0"/>
      <p:regular r:id="rId16"/>
      <p:bold r:id="rId17"/>
    </p:embeddedFont>
    <p:embeddedFont>
      <p:font typeface="Inter Light" panose="02000503000000020004" pitchFamily="2" charset="0"/>
      <p:regular r:id="rId18"/>
    </p:embeddedFont>
    <p:embeddedFont>
      <p:font typeface="Inter SemiBold" panose="02000503000000020004" pitchFamily="2" charset="0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845"/>
    <a:srgbClr val="CCEDEC"/>
    <a:srgbClr val="CBD4D8"/>
    <a:srgbClr val="CCCFD5"/>
    <a:srgbClr val="D0E1E6"/>
    <a:srgbClr val="0065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29"/>
    <p:restoredTop sz="94726"/>
  </p:normalViewPr>
  <p:slideViewPr>
    <p:cSldViewPr snapToGrid="0">
      <p:cViewPr varScale="1">
        <p:scale>
          <a:sx n="120" d="100"/>
          <a:sy n="120" d="100"/>
        </p:scale>
        <p:origin x="6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3520" y="19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notesMaster" Target="notesMasters/notesMaster1.xml"/><Relationship Id="rId15" Type="http://schemas.openxmlformats.org/officeDocument/2006/relationships/handoutMaster" Target="handoutMasters/handoutMaster1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0.xml"/><Relationship Id="rId26" Type="http://schemas.openxmlformats.org/officeDocument/2006/relationships/slide" Target="slides/slide1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4B570B7-D69D-8DA2-462B-C878CD3E6A3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AE97F9-BA58-23B9-0185-F21B203B3B5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743094-6F16-5A21-004B-F387B30DA7B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C65513-F6F0-B44D-87EC-52ED2F81C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99249"/>
      </p:ext>
    </p:extLst>
  </p:cSld>
  <p:clrMap bg1="lt1" tx1="dk1" bg2="lt2" tx2="dk2" accent1="accent1" accent2="accent2" accent3="accent3" accent4="accent4" accent5="accent5" accent6="accent6" hlink="hlink" folHlink="folHlink"/>
  <p:hf ftr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9B17D6-D9A8-D847-8F91-B91B380ED254}" type="datetime1">
              <a:rPr lang="en-US" smtClean="0"/>
              <a:t>6/17/26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E009A8-0C93-E046-9A12-3E9DA893E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023752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Relationship Id="rId3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2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Relationship Id="rId3" Type="http://schemas.openxmlformats.org/officeDocument/2006/relationships/image" Target="../media/image3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svg"/><Relationship Id="rId4" Type="http://schemas.openxmlformats.org/officeDocument/2006/relationships/image" Target="../media/image1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2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1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2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3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D5D63AA0-83D5-6AD3-2D92-4C78A0C59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77" y="0"/>
            <a:ext cx="12192000" cy="6858000"/>
          </a:xfrm>
          <a:prstGeom prst="rect">
            <a:avLst/>
          </a:prstGeom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3FC4B43D-40E5-215E-199A-669555AB43E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0574" y="1811992"/>
            <a:ext cx="5645426" cy="230917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Overarching cover slide for all uses</a:t>
            </a:r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6F1F0BF3-9EE8-74E5-293F-EE8C88481C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0574" y="4275802"/>
            <a:ext cx="5645426" cy="365126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29AF862F-D761-E769-9D25-E9A3110303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850" y="5102124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31C66497-2842-3EEA-AAA4-9E1F67E927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0574" y="5396346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C19CD83D-10D9-5471-79E0-A813BEB5A2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297" y="6104862"/>
            <a:ext cx="5645426" cy="270772"/>
          </a:xfrm>
        </p:spPr>
        <p:txBody>
          <a:bodyPr anchor="ctr">
            <a:noAutofit/>
          </a:bodyPr>
          <a:lstStyle>
            <a:lvl1pPr marL="0" indent="0">
              <a:buNone/>
              <a:defRPr sz="1200" b="0" i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Optional Date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434EEFA-9B63-F89B-7B17-B6F8912D3E1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3111" y="283678"/>
            <a:ext cx="1741194" cy="967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3470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F75CD2DC-51AA-9BE9-DE02-96565C25B2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77" y="0"/>
            <a:ext cx="12192000" cy="6858000"/>
          </a:xfrm>
          <a:prstGeom prst="rect">
            <a:avLst/>
          </a:prstGeom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3FC4B43D-40E5-215E-199A-669555AB43E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0574" y="1811992"/>
            <a:ext cx="5645426" cy="230917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Overarching cover slide for all uses</a:t>
            </a:r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6F1F0BF3-9EE8-74E5-293F-EE8C88481C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0574" y="4275802"/>
            <a:ext cx="5645426" cy="365126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0" i="0">
                <a:solidFill>
                  <a:schemeClr val="accent4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29AF862F-D761-E769-9D25-E9A3110303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850" y="5102124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31C66497-2842-3EEA-AAA4-9E1F67E927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0574" y="5396346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C19CD83D-10D9-5471-79E0-A813BEB5A2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297" y="6104862"/>
            <a:ext cx="5645426" cy="270772"/>
          </a:xfrm>
        </p:spPr>
        <p:txBody>
          <a:bodyPr anchor="ctr">
            <a:noAutofit/>
          </a:bodyPr>
          <a:lstStyle>
            <a:lvl1pPr marL="0" indent="0">
              <a:buNone/>
              <a:defRPr sz="1200" b="0" i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Optional Date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F84F53E-8603-BFDE-B2F4-554C1A4BA2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3111" y="287095"/>
            <a:ext cx="1741195" cy="967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4177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34B9C-16AD-6247-87EF-1591C4E80E8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0574" y="1811992"/>
            <a:ext cx="5645426" cy="230917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Analytics cover slide for analytics presentations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A45E54-7E07-7B9B-3D30-CE879F2ADA4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0574" y="4275802"/>
            <a:ext cx="5645426" cy="365126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D6B88179-8E19-AEEA-7C12-2193874EC8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850" y="5102124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52DBD6C-6393-4015-5BE5-E756963B7F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0574" y="5396346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B1065577-E891-979D-F5BB-7C6B755F9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297" y="6104862"/>
            <a:ext cx="5645426" cy="270772"/>
          </a:xfrm>
        </p:spPr>
        <p:txBody>
          <a:bodyPr anchor="ctr">
            <a:noAutofit/>
          </a:bodyPr>
          <a:lstStyle>
            <a:lvl1pPr marL="0" indent="0">
              <a:buNone/>
              <a:defRPr sz="1200" b="0" i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Optional Date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9C2FCF2-4E29-EED1-5D84-0DBE995AEAA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738" t="38097" r="41958" b="-1231"/>
          <a:stretch/>
        </p:blipFill>
        <p:spPr>
          <a:xfrm>
            <a:off x="6293224" y="1"/>
            <a:ext cx="5898776" cy="6858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85AB4620-118E-B232-6E87-74157253DC0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3111" y="283678"/>
            <a:ext cx="1741194" cy="967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9997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211AD-FACA-FA16-6AC9-88E59FF0C36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0574" y="1811992"/>
            <a:ext cx="5645426" cy="230917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Data Integration cover slide for data integration presentations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4DE177-0CE5-27BE-8C59-49539DD2ABA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0574" y="4275802"/>
            <a:ext cx="5645426" cy="365126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0" i="0">
                <a:solidFill>
                  <a:schemeClr val="accent4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3E76B6C2-3112-C5F8-6521-C2E70AEE31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850" y="5102124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995ECAD9-4262-FC9E-09C4-0939165C2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0574" y="5396346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820A854-FAFA-CC16-19D4-D65B9D1CDD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297" y="6104862"/>
            <a:ext cx="5645426" cy="270772"/>
          </a:xfrm>
        </p:spPr>
        <p:txBody>
          <a:bodyPr anchor="ctr">
            <a:noAutofit/>
          </a:bodyPr>
          <a:lstStyle>
            <a:lvl1pPr marL="0" indent="0">
              <a:buNone/>
              <a:defRPr sz="1200" b="0" i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Optional Date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BC3EC8C-B7FA-1224-8356-981FA134E391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87201CC-6F60-363F-A04E-409C2EEF4A9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3111" y="287095"/>
            <a:ext cx="1741195" cy="967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714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BF5B6-794E-B35A-3AC9-931068BA4C6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0574" y="1811992"/>
            <a:ext cx="5645426" cy="230917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AI cover slide for presentations that cover AI or ML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B40B1CE-D8D7-DC6F-4390-31D68358CAE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0574" y="4275802"/>
            <a:ext cx="5645426" cy="365126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BD5FEE04-5C39-AEEF-053B-98E65F7B67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850" y="5102124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5ABBDE62-C7C2-4B81-0FA5-34AB4C74A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0574" y="5396346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48D6B784-4CBC-0915-02F6-2B8E4889D31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297" y="6104862"/>
            <a:ext cx="5645426" cy="270772"/>
          </a:xfrm>
        </p:spPr>
        <p:txBody>
          <a:bodyPr anchor="ctr">
            <a:noAutofit/>
          </a:bodyPr>
          <a:lstStyle>
            <a:lvl1pPr marL="0" indent="0">
              <a:buNone/>
              <a:defRPr sz="1200" b="0" i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Optional Date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868682DB-2182-5096-B24B-89DA74D31AE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341" t="4866" r="33235" b="20027"/>
          <a:stretch/>
        </p:blipFill>
        <p:spPr>
          <a:xfrm>
            <a:off x="6400800" y="0"/>
            <a:ext cx="579120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AF1CEE5F-2B81-6CF8-CDEA-8E9779FEB7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3111" y="283678"/>
            <a:ext cx="1741194" cy="967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9214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211AD-FACA-FA16-6AC9-88E59FF0C36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0574" y="1811992"/>
            <a:ext cx="5645426" cy="230917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Data quality cover slide for data quality &amp; governance presentations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4DE177-0CE5-27BE-8C59-49539DD2ABA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0574" y="4275802"/>
            <a:ext cx="5645426" cy="365126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0" i="0">
                <a:solidFill>
                  <a:schemeClr val="accent4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3E76B6C2-3112-C5F8-6521-C2E70AEE31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850" y="5102124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995ECAD9-4262-FC9E-09C4-0939165C2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0574" y="5396346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820A854-FAFA-CC16-19D4-D65B9D1CDD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297" y="6104862"/>
            <a:ext cx="5645426" cy="270772"/>
          </a:xfrm>
        </p:spPr>
        <p:txBody>
          <a:bodyPr anchor="ctr">
            <a:noAutofit/>
          </a:bodyPr>
          <a:lstStyle>
            <a:lvl1pPr marL="0" indent="0">
              <a:buNone/>
              <a:defRPr sz="1200" b="0" i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Optional Date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CB19FDE6-D5B9-DB4F-2322-54FB6A1E06E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9431" t="14680" r="27945" b="33127"/>
          <a:stretch/>
        </p:blipFill>
        <p:spPr>
          <a:xfrm>
            <a:off x="6591300" y="0"/>
            <a:ext cx="5600700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0C3FE82-F676-639F-F2FD-868BBC2F56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3111" y="287095"/>
            <a:ext cx="1741195" cy="967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8131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73F66079-37BB-86DD-F9F3-FD9EF2D9DC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3D6199-7E4E-EC3E-01B7-27A061D65B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9" y="2231551"/>
            <a:ext cx="5645426" cy="187513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Overarching divider slide for all uses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96EA256-34A4-5996-DCC4-F4ADF47333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99" y="4261323"/>
            <a:ext cx="5645427" cy="876734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624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28AD91B8-3334-630B-BD66-9DDD0FB55CA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3D6199-7E4E-EC3E-01B7-27A061D65B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0571" y="2584918"/>
            <a:ext cx="5645426" cy="146366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Overarching divider slide for all uses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96EA256-34A4-5996-DCC4-F4ADF47333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0571" y="4203220"/>
            <a:ext cx="5645427" cy="876734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4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</p:spTree>
    <p:extLst>
      <p:ext uri="{BB962C8B-B14F-4D97-AF65-F5344CB8AC3E}">
        <p14:creationId xmlns:p14="http://schemas.microsoft.com/office/powerpoint/2010/main" val="27169949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D6199-7E4E-EC3E-01B7-27A061D65B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0570" y="2584918"/>
            <a:ext cx="6396543" cy="146366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Analytics divider slide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96EA256-34A4-5996-DCC4-F4ADF47333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0571" y="4203220"/>
            <a:ext cx="5645427" cy="876734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7449D2D-1DE2-A12B-DF18-8F2A463EB9C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8950" t="26968" r="7310" b="26967"/>
          <a:stretch/>
        </p:blipFill>
        <p:spPr>
          <a:xfrm flipH="1">
            <a:off x="7168924" y="1"/>
            <a:ext cx="50230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5381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D6199-7E4E-EC3E-01B7-27A061D65B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9" y="2231551"/>
            <a:ext cx="5645426" cy="187513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Data Integration divider slide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96EA256-34A4-5996-DCC4-F4ADF47333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99" y="4261323"/>
            <a:ext cx="5645427" cy="876734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4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B7888F5-ED04-B7C0-428C-F88F2D92C7A8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7238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D6199-7E4E-EC3E-01B7-27A061D65B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9" y="2231551"/>
            <a:ext cx="5645426" cy="187513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AI/ML</a:t>
            </a:r>
            <a:br>
              <a:rPr lang="en-US" dirty="0"/>
            </a:br>
            <a:r>
              <a:rPr lang="en-US" dirty="0"/>
              <a:t>divider slide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96EA256-34A4-5996-DCC4-F4ADF47333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99" y="4261323"/>
            <a:ext cx="5645427" cy="876733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7F54775-4409-FA0E-1918-BDE657018FB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3181" t="53449" r="4109" b="2530"/>
          <a:stretch/>
        </p:blipFill>
        <p:spPr>
          <a:xfrm>
            <a:off x="0" y="-1"/>
            <a:ext cx="6095999" cy="628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151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D6199-7E4E-EC3E-01B7-27A061D65B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0571" y="2584918"/>
            <a:ext cx="5645426" cy="146366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AI/ML</a:t>
            </a:r>
            <a:br>
              <a:rPr lang="en-US" dirty="0"/>
            </a:br>
            <a:r>
              <a:rPr lang="en-US" dirty="0"/>
              <a:t>divider slide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96EA256-34A4-5996-DCC4-F4ADF47333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0571" y="4203220"/>
            <a:ext cx="5645427" cy="876734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4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61E1775-A956-58F2-BFA3-F17F4CF652B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0000" t="38580" b="13708"/>
          <a:stretch/>
        </p:blipFill>
        <p:spPr>
          <a:xfrm flipH="1">
            <a:off x="5005180" y="0"/>
            <a:ext cx="71868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96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4">
            <a:extLst>
              <a:ext uri="{FF2B5EF4-FFF2-40B4-BE49-F238E27FC236}">
                <a16:creationId xmlns:a16="http://schemas.microsoft.com/office/drawing/2014/main" id="{0058478C-391D-7C7E-2C6A-2ABA668A05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8955" y="772198"/>
            <a:ext cx="2533830" cy="312176"/>
          </a:xfrm>
        </p:spPr>
        <p:txBody>
          <a:bodyPr>
            <a:noAutofit/>
          </a:bodyPr>
          <a:lstStyle>
            <a:lvl1pPr marL="0" indent="0">
              <a:buNone/>
              <a:defRPr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15754FC0-BCD4-FF89-6C43-EB0FB0D48C2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8954" y="1084374"/>
            <a:ext cx="2533831" cy="606644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ts val="1000"/>
              </a:spcBef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.</a:t>
            </a:r>
          </a:p>
        </p:txBody>
      </p:sp>
      <p:sp>
        <p:nvSpPr>
          <p:cNvPr id="24" name="Text Placeholder 24">
            <a:extLst>
              <a:ext uri="{FF2B5EF4-FFF2-40B4-BE49-F238E27FC236}">
                <a16:creationId xmlns:a16="http://schemas.microsoft.com/office/drawing/2014/main" id="{6C254C9F-B4F7-BCB1-A3CD-100FAC2287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88954" y="2736589"/>
            <a:ext cx="2533830" cy="312176"/>
          </a:xfrm>
        </p:spPr>
        <p:txBody>
          <a:bodyPr>
            <a:noAutofit/>
          </a:bodyPr>
          <a:lstStyle>
            <a:lvl1pPr marL="0" indent="0">
              <a:buNone/>
              <a:defRPr b="1" i="0">
                <a:solidFill>
                  <a:schemeClr val="accent2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856435AF-B0F2-25D6-2D1E-DA249F6CF9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88953" y="3048765"/>
            <a:ext cx="2533831" cy="606644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ts val="1000"/>
              </a:spcBef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.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CAA20ED5-C993-E12B-C725-0C6F829C4E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60080" y="4734675"/>
            <a:ext cx="2533830" cy="312176"/>
          </a:xfrm>
        </p:spPr>
        <p:txBody>
          <a:bodyPr>
            <a:noAutofit/>
          </a:bodyPr>
          <a:lstStyle>
            <a:lvl1pPr marL="0" indent="0">
              <a:buNone/>
              <a:defRPr b="1" i="0">
                <a:solidFill>
                  <a:schemeClr val="accent3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0" name="Text Placeholder 24">
            <a:extLst>
              <a:ext uri="{FF2B5EF4-FFF2-40B4-BE49-F238E27FC236}">
                <a16:creationId xmlns:a16="http://schemas.microsoft.com/office/drawing/2014/main" id="{E49D86B6-48D2-C999-6FE3-1FA49C461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0079" y="5046851"/>
            <a:ext cx="2533831" cy="606644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ts val="1000"/>
              </a:spcBef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.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8432D35A-5207-5517-8B62-F09F55FF7DF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208481" y="769276"/>
            <a:ext cx="2533830" cy="312176"/>
          </a:xfrm>
        </p:spPr>
        <p:txBody>
          <a:bodyPr>
            <a:noAutofit/>
          </a:bodyPr>
          <a:lstStyle>
            <a:lvl1pPr marL="0" indent="0">
              <a:buNone/>
              <a:defRPr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9" name="Text Placeholder 24">
            <a:extLst>
              <a:ext uri="{FF2B5EF4-FFF2-40B4-BE49-F238E27FC236}">
                <a16:creationId xmlns:a16="http://schemas.microsoft.com/office/drawing/2014/main" id="{7E926548-E618-967B-2757-DE80AC5DFE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08480" y="1081452"/>
            <a:ext cx="2533831" cy="606644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ts val="1000"/>
              </a:spcBef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.</a:t>
            </a:r>
          </a:p>
        </p:txBody>
      </p:sp>
      <p:sp>
        <p:nvSpPr>
          <p:cNvPr id="41" name="Text Placeholder 24">
            <a:extLst>
              <a:ext uri="{FF2B5EF4-FFF2-40B4-BE49-F238E27FC236}">
                <a16:creationId xmlns:a16="http://schemas.microsoft.com/office/drawing/2014/main" id="{9049CEC8-CF6D-2E4C-1A6B-66BC6879FF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08480" y="2745835"/>
            <a:ext cx="2533830" cy="312176"/>
          </a:xfrm>
        </p:spPr>
        <p:txBody>
          <a:bodyPr>
            <a:noAutofit/>
          </a:bodyPr>
          <a:lstStyle>
            <a:lvl1pPr marL="0" indent="0">
              <a:buNone/>
              <a:defRPr b="1" i="0">
                <a:solidFill>
                  <a:schemeClr val="accent2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2" name="Text Placeholder 24">
            <a:extLst>
              <a:ext uri="{FF2B5EF4-FFF2-40B4-BE49-F238E27FC236}">
                <a16:creationId xmlns:a16="http://schemas.microsoft.com/office/drawing/2014/main" id="{6D74E6FE-78EB-9A04-4843-7898E6204A4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08479" y="3058011"/>
            <a:ext cx="2533831" cy="606644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ts val="1000"/>
              </a:spcBef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.</a:t>
            </a:r>
          </a:p>
        </p:txBody>
      </p:sp>
      <p:sp>
        <p:nvSpPr>
          <p:cNvPr id="44" name="Text Placeholder 24">
            <a:extLst>
              <a:ext uri="{FF2B5EF4-FFF2-40B4-BE49-F238E27FC236}">
                <a16:creationId xmlns:a16="http://schemas.microsoft.com/office/drawing/2014/main" id="{83204BF7-2D57-A4E3-238F-38B7DA49D5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08480" y="4734675"/>
            <a:ext cx="2533830" cy="312176"/>
          </a:xfrm>
        </p:spPr>
        <p:txBody>
          <a:bodyPr>
            <a:noAutofit/>
          </a:bodyPr>
          <a:lstStyle>
            <a:lvl1pPr marL="0" indent="0">
              <a:buNone/>
              <a:defRPr b="1" i="0">
                <a:solidFill>
                  <a:schemeClr val="accent3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5" name="Text Placeholder 24">
            <a:extLst>
              <a:ext uri="{FF2B5EF4-FFF2-40B4-BE49-F238E27FC236}">
                <a16:creationId xmlns:a16="http://schemas.microsoft.com/office/drawing/2014/main" id="{6A4C301D-28CA-8069-8CAF-248ADC83BB2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08479" y="5046851"/>
            <a:ext cx="2533831" cy="606644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ts val="1000"/>
              </a:spcBef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.</a:t>
            </a:r>
          </a:p>
        </p:txBody>
      </p:sp>
      <p:pic>
        <p:nvPicPr>
          <p:cNvPr id="9" name="Picture 8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DF7D1E1D-A0AB-B3C2-F342-BF4BB539D7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9840"/>
            <a:ext cx="6096000" cy="58789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2B38840-7A94-7206-D1BC-A85087AFF8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9133" y="6101755"/>
            <a:ext cx="961259" cy="534032"/>
          </a:xfrm>
          <a:prstGeom prst="rect">
            <a:avLst/>
          </a:prstGeom>
        </p:spPr>
      </p:pic>
      <p:pic>
        <p:nvPicPr>
          <p:cNvPr id="21" name="Picture 20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3B048BF8-4C94-4C13-8044-21E9DB3932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342" t="84856"/>
          <a:stretch/>
        </p:blipFill>
        <p:spPr>
          <a:xfrm>
            <a:off x="2246243" y="5829375"/>
            <a:ext cx="9955696" cy="103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2124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4">
            <a:extLst>
              <a:ext uri="{FF2B5EF4-FFF2-40B4-BE49-F238E27FC236}">
                <a16:creationId xmlns:a16="http://schemas.microsoft.com/office/drawing/2014/main" id="{0058478C-391D-7C7E-2C6A-2ABA668A05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8955" y="769275"/>
            <a:ext cx="2533830" cy="918819"/>
          </a:xfrm>
        </p:spPr>
        <p:txBody>
          <a:bodyPr anchor="ctr">
            <a:noAutofit/>
          </a:bodyPr>
          <a:lstStyle>
            <a:lvl1pPr marL="0" indent="0">
              <a:buNone/>
              <a:defRPr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4" name="Text Placeholder 24">
            <a:extLst>
              <a:ext uri="{FF2B5EF4-FFF2-40B4-BE49-F238E27FC236}">
                <a16:creationId xmlns:a16="http://schemas.microsoft.com/office/drawing/2014/main" id="{6C254C9F-B4F7-BCB1-A3CD-100FAC2287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88954" y="2734334"/>
            <a:ext cx="2533830" cy="918820"/>
          </a:xfrm>
        </p:spPr>
        <p:txBody>
          <a:bodyPr anchor="ctr">
            <a:noAutofit/>
          </a:bodyPr>
          <a:lstStyle>
            <a:lvl1pPr marL="0" indent="0">
              <a:buNone/>
              <a:defRPr b="1" i="0">
                <a:solidFill>
                  <a:schemeClr val="accent2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CAA20ED5-C993-E12B-C725-0C6F829C4E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60080" y="4708725"/>
            <a:ext cx="2533830" cy="918820"/>
          </a:xfrm>
        </p:spPr>
        <p:txBody>
          <a:bodyPr anchor="ctr">
            <a:noAutofit/>
          </a:bodyPr>
          <a:lstStyle>
            <a:lvl1pPr marL="0" indent="0">
              <a:buNone/>
              <a:defRPr b="1" i="0">
                <a:solidFill>
                  <a:schemeClr val="accent3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8432D35A-5207-5517-8B62-F09F55FF7DF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208480" y="759521"/>
            <a:ext cx="2533830" cy="928575"/>
          </a:xfrm>
        </p:spPr>
        <p:txBody>
          <a:bodyPr anchor="ctr">
            <a:noAutofit/>
          </a:bodyPr>
          <a:lstStyle>
            <a:lvl1pPr marL="0" indent="0">
              <a:buNone/>
              <a:defRPr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1" name="Text Placeholder 24">
            <a:extLst>
              <a:ext uri="{FF2B5EF4-FFF2-40B4-BE49-F238E27FC236}">
                <a16:creationId xmlns:a16="http://schemas.microsoft.com/office/drawing/2014/main" id="{9049CEC8-CF6D-2E4C-1A6B-66BC6879FF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04322" y="2734335"/>
            <a:ext cx="2533830" cy="877624"/>
          </a:xfrm>
        </p:spPr>
        <p:txBody>
          <a:bodyPr anchor="ctr">
            <a:noAutofit/>
          </a:bodyPr>
          <a:lstStyle>
            <a:lvl1pPr marL="0" indent="0">
              <a:buNone/>
              <a:defRPr b="1" i="0">
                <a:solidFill>
                  <a:schemeClr val="accent2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4" name="Text Placeholder 24">
            <a:extLst>
              <a:ext uri="{FF2B5EF4-FFF2-40B4-BE49-F238E27FC236}">
                <a16:creationId xmlns:a16="http://schemas.microsoft.com/office/drawing/2014/main" id="{83204BF7-2D57-A4E3-238F-38B7DA49D5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08480" y="4708725"/>
            <a:ext cx="2533830" cy="918820"/>
          </a:xfrm>
        </p:spPr>
        <p:txBody>
          <a:bodyPr anchor="ctr">
            <a:noAutofit/>
          </a:bodyPr>
          <a:lstStyle>
            <a:lvl1pPr marL="0" indent="0">
              <a:buNone/>
              <a:defRPr b="1" i="0">
                <a:solidFill>
                  <a:schemeClr val="accent3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pic>
        <p:nvPicPr>
          <p:cNvPr id="9" name="Picture 8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DF7D1E1D-A0AB-B3C2-F342-BF4BB539D7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9840"/>
            <a:ext cx="6096000" cy="587891"/>
          </a:xfrm>
          <a:prstGeom prst="rect">
            <a:avLst/>
          </a:prstGeom>
        </p:spPr>
      </p:pic>
      <p:pic>
        <p:nvPicPr>
          <p:cNvPr id="21" name="Picture 20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3B048BF8-4C94-4C13-8044-21E9DB3932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342" t="84856"/>
          <a:stretch/>
        </p:blipFill>
        <p:spPr>
          <a:xfrm>
            <a:off x="2246243" y="5829375"/>
            <a:ext cx="9955696" cy="1038563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81939B3B-09E2-4B85-5315-8626D54584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89133" y="6101755"/>
            <a:ext cx="961259" cy="534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3939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300C71-73F6-E27E-A89C-C30F052C6E6E}"/>
              </a:ext>
            </a:extLst>
          </p:cNvPr>
          <p:cNvSpPr/>
          <p:nvPr userDrawn="1"/>
        </p:nvSpPr>
        <p:spPr>
          <a:xfrm>
            <a:off x="0" y="0"/>
            <a:ext cx="284710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12CEF313-4E82-4E05-E919-45A6ADE24A62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633234" y="759522"/>
            <a:ext cx="7774996" cy="5338230"/>
          </a:xfrm>
        </p:spPr>
        <p:txBody>
          <a:bodyPr>
            <a:noAutofit/>
          </a:bodyPr>
          <a:lstStyle>
            <a:lvl1pPr>
              <a:buClr>
                <a:schemeClr val="bg2"/>
              </a:buClr>
              <a:defRPr/>
            </a:lvl1pPr>
          </a:lstStyle>
          <a:p>
            <a:r>
              <a:rPr lang="en-US" dirty="0"/>
              <a:t>Click icon to add table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F429545-9952-A80B-8C58-D61954A0FD7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89133" y="6097752"/>
            <a:ext cx="961259" cy="534032"/>
          </a:xfrm>
          <a:prstGeom prst="rect">
            <a:avLst/>
          </a:prstGeom>
        </p:spPr>
      </p:pic>
      <p:pic>
        <p:nvPicPr>
          <p:cNvPr id="4" name="Picture 3" descr="A green and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CC815499-EBF4-4487-3194-C4879D9616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5610112" cy="1477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3416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8485D64-40C9-27C1-86DF-DD3B4FC96C0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3633233" y="759521"/>
            <a:ext cx="8108193" cy="4537308"/>
          </a:xfrm>
        </p:spPr>
        <p:txBody>
          <a:bodyPr anchor="t">
            <a:noAutofit/>
          </a:bodyPr>
          <a:lstStyle>
            <a:lvl1pPr marL="457200" indent="-4572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sz="24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en-US" dirty="0"/>
              <a:t>Click to enter text</a:t>
            </a:r>
          </a:p>
        </p:txBody>
      </p:sp>
      <p:pic>
        <p:nvPicPr>
          <p:cNvPr id="19" name="Picture 18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0B9A3DA7-829B-DEA1-21F1-97B56CCF9C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9840"/>
            <a:ext cx="6096000" cy="587891"/>
          </a:xfrm>
          <a:prstGeom prst="rect">
            <a:avLst/>
          </a:prstGeom>
        </p:spPr>
      </p:pic>
      <p:pic>
        <p:nvPicPr>
          <p:cNvPr id="7" name="Picture 6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8F4C0CC8-EB18-86FF-6BE9-11ECCB4FF6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342" t="84856"/>
          <a:stretch/>
        </p:blipFill>
        <p:spPr>
          <a:xfrm>
            <a:off x="2246243" y="5829375"/>
            <a:ext cx="9955696" cy="1038563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B043F06F-FF47-77D0-FD57-5A38BE173A0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89133" y="6101755"/>
            <a:ext cx="961259" cy="534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1375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/ Contr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A2791E-F6D3-B661-BD3F-3DCD8E5B11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9689" y="1836431"/>
            <a:ext cx="11291736" cy="41962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F6E8D7C-BCD2-BF09-E007-0B3E40E78D8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940A5A4-F7F8-6AE6-7462-D71B5D3F8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11291736" cy="57771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2F47D7E-344A-96C0-38DE-837E5CE2267F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49690" y="1057632"/>
            <a:ext cx="11291736" cy="429208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5" name="Picture 14" descr="A black background with a green line&#10;&#10;Description automatically generated">
            <a:extLst>
              <a:ext uri="{FF2B5EF4-FFF2-40B4-BE49-F238E27FC236}">
                <a16:creationId xmlns:a16="http://schemas.microsoft.com/office/drawing/2014/main" id="{98AAB693-A520-4D1A-8A2F-E96431EBC9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2191656" y="1"/>
            <a:ext cx="10000343" cy="758536"/>
          </a:xfrm>
          <a:prstGeom prst="rect">
            <a:avLst/>
          </a:prstGeom>
        </p:spPr>
      </p:pic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1908FA4E-4464-0E46-CCCA-B32AA9B8FE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9665" y="6461872"/>
            <a:ext cx="7123447" cy="196543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accent6"/>
                </a:solidFill>
              </a:defRPr>
            </a:lvl1pPr>
            <a:lvl2pPr>
              <a:defRPr sz="1400">
                <a:solidFill>
                  <a:schemeClr val="accent6"/>
                </a:solidFill>
              </a:defRPr>
            </a:lvl2pPr>
            <a:lvl3pPr>
              <a:defRPr sz="1400">
                <a:solidFill>
                  <a:schemeClr val="accent6"/>
                </a:solidFill>
              </a:defRPr>
            </a:lvl3pPr>
            <a:lvl4pPr>
              <a:defRPr sz="1400">
                <a:solidFill>
                  <a:schemeClr val="accent6"/>
                </a:solidFill>
              </a:defRPr>
            </a:lvl4pPr>
            <a:lvl5pPr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Footnotes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9DBBE2E-0998-460C-49E7-9B5206761C7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5467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Title, Subtitle and Content w/ Contrai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A2791E-F6D3-B661-BD3F-3DCD8E5B11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9689" y="1836431"/>
            <a:ext cx="11291736" cy="4196231"/>
          </a:xfrm>
        </p:spPr>
        <p:txBody>
          <a:bodyPr vert="horz" lIns="91440" tIns="45720" rIns="91440" bIns="45720" rtlCol="0">
            <a:normAutofit/>
          </a:bodyPr>
          <a:lstStyle>
            <a:lvl1pPr>
              <a:buClr>
                <a:schemeClr val="accent4"/>
              </a:buClr>
              <a:defRPr lang="en-US" dirty="0"/>
            </a:lvl1pPr>
            <a:lvl2pPr>
              <a:buClr>
                <a:schemeClr val="accent4"/>
              </a:buClr>
              <a:defRPr lang="en-US" dirty="0"/>
            </a:lvl2pPr>
            <a:lvl3pPr>
              <a:buClr>
                <a:schemeClr val="accent4"/>
              </a:buClr>
              <a:defRPr lang="en-US" dirty="0"/>
            </a:lvl3pPr>
            <a:lvl4pPr>
              <a:buClr>
                <a:schemeClr val="accent4"/>
              </a:buClr>
              <a:defRPr lang="en-US" dirty="0"/>
            </a:lvl4pPr>
            <a:lvl5pPr>
              <a:buClr>
                <a:schemeClr val="accent4"/>
              </a:buCl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F6E8D7C-BCD2-BF09-E007-0B3E40E78D8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940A5A4-F7F8-6AE6-7462-D71B5D3F8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11291736" cy="57771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2F47D7E-344A-96C0-38DE-837E5CE2267F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49690" y="1057632"/>
            <a:ext cx="11291736" cy="429208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4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5" name="Picture 14" descr="A black background with a green line&#10;&#10;Description automatically generated">
            <a:extLst>
              <a:ext uri="{FF2B5EF4-FFF2-40B4-BE49-F238E27FC236}">
                <a16:creationId xmlns:a16="http://schemas.microsoft.com/office/drawing/2014/main" id="{98AAB693-A520-4D1A-8A2F-E96431EBC9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2191656" y="1"/>
            <a:ext cx="10000343" cy="758536"/>
          </a:xfrm>
          <a:prstGeom prst="rect">
            <a:avLst/>
          </a:prstGeom>
        </p:spPr>
      </p:pic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1908FA4E-4464-0E46-CCCA-B32AA9B8FE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9665" y="6461872"/>
            <a:ext cx="7123447" cy="196543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accent6"/>
                </a:solidFill>
              </a:defRPr>
            </a:lvl1pPr>
            <a:lvl2pPr>
              <a:defRPr sz="1400">
                <a:solidFill>
                  <a:schemeClr val="accent6"/>
                </a:solidFill>
              </a:defRPr>
            </a:lvl2pPr>
            <a:lvl3pPr>
              <a:defRPr sz="1400">
                <a:solidFill>
                  <a:schemeClr val="accent6"/>
                </a:solidFill>
              </a:defRPr>
            </a:lvl3pPr>
            <a:lvl4pPr>
              <a:defRPr sz="1400">
                <a:solidFill>
                  <a:schemeClr val="accent6"/>
                </a:solidFill>
              </a:defRPr>
            </a:lvl4pPr>
            <a:lvl5pPr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Footnotes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CE353FC-885A-FC28-034A-8B470B1773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9134" y="6289636"/>
            <a:ext cx="795418" cy="441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91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/ Contr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A2791E-F6D3-B661-BD3F-3DCD8E5B11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9689" y="1407221"/>
            <a:ext cx="11291736" cy="462544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F6E8D7C-BCD2-BF09-E007-0B3E40E78D8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940A5A4-F7F8-6AE6-7462-D71B5D3F8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11291736" cy="57771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5" name="Picture 14" descr="A black background with a green line&#10;&#10;Description automatically generated">
            <a:extLst>
              <a:ext uri="{FF2B5EF4-FFF2-40B4-BE49-F238E27FC236}">
                <a16:creationId xmlns:a16="http://schemas.microsoft.com/office/drawing/2014/main" id="{98AAB693-A520-4D1A-8A2F-E96431EBC9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2191656" y="1"/>
            <a:ext cx="10000343" cy="758536"/>
          </a:xfrm>
          <a:prstGeom prst="rect">
            <a:avLst/>
          </a:prstGeom>
        </p:spPr>
      </p:pic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1908FA4E-4464-0E46-CCCA-B32AA9B8FE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9665" y="6461872"/>
            <a:ext cx="7123447" cy="196543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accent6"/>
                </a:solidFill>
              </a:defRPr>
            </a:lvl1pPr>
            <a:lvl2pPr>
              <a:defRPr sz="1400">
                <a:solidFill>
                  <a:schemeClr val="accent6"/>
                </a:solidFill>
              </a:defRPr>
            </a:lvl2pPr>
            <a:lvl3pPr>
              <a:defRPr sz="1400">
                <a:solidFill>
                  <a:schemeClr val="accent6"/>
                </a:solidFill>
              </a:defRPr>
            </a:lvl3pPr>
            <a:lvl4pPr>
              <a:defRPr sz="1400">
                <a:solidFill>
                  <a:schemeClr val="accent6"/>
                </a:solidFill>
              </a:defRPr>
            </a:lvl4pPr>
            <a:lvl5pPr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Footnotes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9A7177F-EBD1-3FF1-CF25-25AAAD5CE0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5445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o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A2791E-F6D3-B661-BD3F-3DCD8E5B11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9689" y="1836431"/>
            <a:ext cx="11291736" cy="41962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F6E8D7C-BCD2-BF09-E007-0B3E40E78D8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940A5A4-F7F8-6AE6-7462-D71B5D3F8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11291736" cy="57771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2F47D7E-344A-96C0-38DE-837E5CE2267F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49690" y="1057632"/>
            <a:ext cx="11291736" cy="429208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1908FA4E-4464-0E46-CCCA-B32AA9B8FE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9665" y="6461872"/>
            <a:ext cx="7123447" cy="196543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accent6"/>
                </a:solidFill>
              </a:defRPr>
            </a:lvl1pPr>
            <a:lvl2pPr>
              <a:defRPr sz="1400">
                <a:solidFill>
                  <a:schemeClr val="accent6"/>
                </a:solidFill>
              </a:defRPr>
            </a:lvl2pPr>
            <a:lvl3pPr>
              <a:defRPr sz="1400">
                <a:solidFill>
                  <a:schemeClr val="accent6"/>
                </a:solidFill>
              </a:defRPr>
            </a:lvl3pPr>
            <a:lvl4pPr>
              <a:defRPr sz="1400">
                <a:solidFill>
                  <a:schemeClr val="accent6"/>
                </a:solidFill>
              </a:defRPr>
            </a:lvl4pPr>
            <a:lvl5pPr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Footnotes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41E6EAE-B346-57DA-21D4-F8B722AD8D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3113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2 Content w/ Contr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A2791E-F6D3-B661-BD3F-3DCD8E5B11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9689" y="1836430"/>
            <a:ext cx="5315225" cy="41962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BFA99523-1D08-BFBD-57F6-289CF88497F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27089" y="1836430"/>
            <a:ext cx="5314338" cy="41962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6" name="Picture 5" descr="A green and black rectangle&#10;&#10;Description automatically generated">
            <a:extLst>
              <a:ext uri="{FF2B5EF4-FFF2-40B4-BE49-F238E27FC236}">
                <a16:creationId xmlns:a16="http://schemas.microsoft.com/office/drawing/2014/main" id="{861C90BE-518E-0670-C419-07FB292B24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529664" y="1"/>
            <a:ext cx="10662335" cy="36512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7796A00-1FEA-D008-F2F8-EABE69AE9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11291736" cy="57771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9A34EB7B-3727-E8E9-13D8-1DF95DF5DFA9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49690" y="1057632"/>
            <a:ext cx="11291736" cy="429208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9D7EF99A-B069-A312-85ED-251326BBD94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5EFED929-2619-23F4-D192-AB426C52C80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29665" y="6461872"/>
            <a:ext cx="7123447" cy="196543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accent6"/>
                </a:solidFill>
              </a:defRPr>
            </a:lvl1pPr>
            <a:lvl2pPr>
              <a:defRPr sz="1400">
                <a:solidFill>
                  <a:schemeClr val="accent6"/>
                </a:solidFill>
              </a:defRPr>
            </a:lvl2pPr>
            <a:lvl3pPr>
              <a:defRPr sz="1400">
                <a:solidFill>
                  <a:schemeClr val="accent6"/>
                </a:solidFill>
              </a:defRPr>
            </a:lvl3pPr>
            <a:lvl4pPr>
              <a:defRPr sz="1400">
                <a:solidFill>
                  <a:schemeClr val="accent6"/>
                </a:solidFill>
              </a:defRPr>
            </a:lvl4pPr>
            <a:lvl5pPr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Footnotes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A2C1EA0-A4D1-6CB5-F3AF-8E0CA04A18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1126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2 Content o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A2791E-F6D3-B661-BD3F-3DCD8E5B11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9690" y="1836430"/>
            <a:ext cx="5315224" cy="41962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BFA99523-1D08-BFBD-57F6-289CF88497F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27088" y="1836430"/>
            <a:ext cx="5314337" cy="41962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940A5A4-F7F8-6AE6-7462-D71B5D3F8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4"/>
            <a:ext cx="11291735" cy="57771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2F47D7E-344A-96C0-38DE-837E5CE2267F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49690" y="1057631"/>
            <a:ext cx="11291735" cy="429208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3" name="Slide Number Placeholder 13">
            <a:extLst>
              <a:ext uri="{FF2B5EF4-FFF2-40B4-BE49-F238E27FC236}">
                <a16:creationId xmlns:a16="http://schemas.microsoft.com/office/drawing/2014/main" id="{C08B33AD-B899-6D5D-9216-5716B03CE76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7B21125A-19CA-D45C-1A96-0CB53E5EF13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29665" y="6461872"/>
            <a:ext cx="7123447" cy="196543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accent6"/>
                </a:solidFill>
              </a:defRPr>
            </a:lvl1pPr>
            <a:lvl2pPr>
              <a:defRPr sz="1400">
                <a:solidFill>
                  <a:schemeClr val="accent6"/>
                </a:solidFill>
              </a:defRPr>
            </a:lvl2pPr>
            <a:lvl3pPr>
              <a:defRPr sz="1400">
                <a:solidFill>
                  <a:schemeClr val="accent6"/>
                </a:solidFill>
              </a:defRPr>
            </a:lvl3pPr>
            <a:lvl4pPr>
              <a:defRPr sz="1400">
                <a:solidFill>
                  <a:schemeClr val="accent6"/>
                </a:solidFill>
              </a:defRPr>
            </a:lvl4pPr>
            <a:lvl5pPr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Footnotes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BADF283-8D12-2C14-DA6D-7EBF3C7CA6A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8132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. Title, Subtitle and Content w/ Contr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A2791E-F6D3-B661-BD3F-3DCD8E5B11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26201" y="479915"/>
            <a:ext cx="5315225" cy="555274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0E0266B-1A00-373C-6E5C-51A494B30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5315225" cy="113286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5C8E2C4-1504-1B5F-4CD1-8404B92491CD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49690" y="1612774"/>
            <a:ext cx="5315225" cy="892383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5" name="Picture 14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1544D8E8-15D0-01C7-9EE4-8B406D01C5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195728" y="122283"/>
            <a:ext cx="11000410" cy="557536"/>
          </a:xfrm>
          <a:prstGeom prst="rect">
            <a:avLst/>
          </a:prstGeom>
        </p:spPr>
      </p:pic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C89A1DB0-6328-ABC6-1D97-AE6EFEC9878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B743715-1667-FBBD-BB01-F8FA3AE050D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3903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. Title, Subtitle and Content w/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A2791E-F6D3-B661-BD3F-3DCD8E5B11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26200" y="479915"/>
            <a:ext cx="5315225" cy="555274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27AE9BEE-6FA6-042F-21FB-80B2AC262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5315225" cy="113286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30EF14B6-C419-FDB0-239C-8C2A6D55A3DF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49690" y="1612774"/>
            <a:ext cx="5315225" cy="892383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Slide Number Placeholder 13">
            <a:extLst>
              <a:ext uri="{FF2B5EF4-FFF2-40B4-BE49-F238E27FC236}">
                <a16:creationId xmlns:a16="http://schemas.microsoft.com/office/drawing/2014/main" id="{3068E4FA-B3AC-5F34-2714-E1E36D50D35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AAAAA52-8570-BB98-76E9-8BD279443D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6307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Subtitle and 2 Content w/ Contr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11D73-7A17-30B7-01A0-87E7709CD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11291736" cy="53403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3814B1-633C-E8B0-5941-E1E7F6FA0BD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49688" y="1325268"/>
            <a:ext cx="5316110" cy="895732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0B991CD-48C1-C467-6A1C-9119669C56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26201" y="1326918"/>
            <a:ext cx="5316114" cy="89408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07ACD2F3-5CBE-4E9B-4E17-AA641AAFB6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9689" y="2254413"/>
            <a:ext cx="5316109" cy="380485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A0C6141-BBB3-C613-F91D-4A018704B01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26201" y="2251386"/>
            <a:ext cx="5316110" cy="380485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4" name="Picture 23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44CE69C7-AA0C-8790-C757-EBF9B7E1E0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789710"/>
          </a:xfrm>
          <a:prstGeom prst="rect">
            <a:avLst/>
          </a:prstGeom>
        </p:spPr>
      </p:pic>
      <p:sp>
        <p:nvSpPr>
          <p:cNvPr id="13" name="Slide Number Placeholder 13">
            <a:extLst>
              <a:ext uri="{FF2B5EF4-FFF2-40B4-BE49-F238E27FC236}">
                <a16:creationId xmlns:a16="http://schemas.microsoft.com/office/drawing/2014/main" id="{E08B4A01-1405-E3F6-BED0-5A11FB573BB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1AFBE57-DC24-166B-BAEA-799A430246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3623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3 Subtitle and Content w/ Contr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C3814B1-633C-E8B0-5941-E1E7F6FA0BD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49686" y="1325268"/>
            <a:ext cx="3499197" cy="895732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0B991CD-48C1-C467-6A1C-9119669C56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46401" y="1326918"/>
            <a:ext cx="3499197" cy="89408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07ACD2F3-5CBE-4E9B-4E17-AA641AAFB6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9690" y="2257440"/>
            <a:ext cx="3499196" cy="380485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A0C6141-BBB3-C613-F91D-4A018704B01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46402" y="2254413"/>
            <a:ext cx="3499196" cy="380485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BF1A17F7-5DB3-CC7E-7DBA-9D0964A8E52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42228" y="1325268"/>
            <a:ext cx="3499198" cy="89408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069D5E2C-5A7B-A57E-2536-0587472FDD3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43114" y="2252763"/>
            <a:ext cx="3499196" cy="380485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 descr="A green and black background&#10;&#10;Description automatically generated">
            <a:extLst>
              <a:ext uri="{FF2B5EF4-FFF2-40B4-BE49-F238E27FC236}">
                <a16:creationId xmlns:a16="http://schemas.microsoft.com/office/drawing/2014/main" id="{F3028C0F-81B5-D95E-D0DD-35A10BF144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78232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01F72C7-7397-45FF-CD1D-D2925B2E9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11291736" cy="53403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Slide Number Placeholder 13">
            <a:extLst>
              <a:ext uri="{FF2B5EF4-FFF2-40B4-BE49-F238E27FC236}">
                <a16:creationId xmlns:a16="http://schemas.microsoft.com/office/drawing/2014/main" id="{EE4CE6B4-AD4C-E75C-D588-124E938EDE8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2AA1343-69E4-00A1-B60F-C322C11BB1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41190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4D2A0828-126E-FEBA-1AB9-20FC24EBC65F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6426200" y="0"/>
            <a:ext cx="5765800" cy="6858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3EDD544-65D6-FA23-8C90-7D59A1C49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5315225" cy="113286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94B63DB8-E6C7-12FC-DFB9-23C5DC7EF80E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49690" y="1612774"/>
            <a:ext cx="5315225" cy="892383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6C5AAA0-097A-E211-DC9A-BB95EA90DDE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9689" y="2809462"/>
            <a:ext cx="5315225" cy="32498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0B350EC-B356-456C-1E0F-62F053685A6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3840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4D2A0828-126E-FEBA-1AB9-20FC24EBC65F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6426200" y="0"/>
            <a:ext cx="5765800" cy="6858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3EDD544-65D6-FA23-8C90-7D59A1C49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5315225" cy="113286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6C5AAA0-097A-E211-DC9A-BB95EA90DDE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9689" y="1948070"/>
            <a:ext cx="5315225" cy="41112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846F02B-D6EC-D033-7D76-94E3759A1B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4487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DBEC1529-1577-5B5F-A906-24D4A99D1143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8619595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722CC027-6B6E-85B0-A8C3-64578F0614D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8697E31-C660-9F76-8A94-301A2694C2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55338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70719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E34B6771-4E1A-8E8A-57C7-9B89E2B0D453}"/>
              </a:ext>
            </a:extLst>
          </p:cNvPr>
          <p:cNvGrpSpPr/>
          <p:nvPr userDrawn="1"/>
        </p:nvGrpSpPr>
        <p:grpSpPr>
          <a:xfrm>
            <a:off x="599927" y="502602"/>
            <a:ext cx="10992146" cy="5852796"/>
            <a:chOff x="1056488" y="840235"/>
            <a:chExt cx="10079022" cy="5366601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DF2B4CC-2CCE-0995-5F08-8729B2906144}"/>
                </a:ext>
              </a:extLst>
            </p:cNvPr>
            <p:cNvSpPr/>
            <p:nvPr userDrawn="1"/>
          </p:nvSpPr>
          <p:spPr>
            <a:xfrm>
              <a:off x="1281112" y="1179492"/>
              <a:ext cx="9629775" cy="4499016"/>
            </a:xfrm>
            <a:prstGeom prst="rect">
              <a:avLst/>
            </a:prstGeom>
            <a:noFill/>
            <a:ln w="31750" cap="rnd">
              <a:solidFill>
                <a:schemeClr val="accent4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B0F4778-506D-12C4-CFF1-B44705EBF1E7}"/>
                </a:ext>
              </a:extLst>
            </p:cNvPr>
            <p:cNvSpPr/>
            <p:nvPr userDrawn="1"/>
          </p:nvSpPr>
          <p:spPr>
            <a:xfrm>
              <a:off x="1108364" y="2202873"/>
              <a:ext cx="8686800" cy="400396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DA25866-82EC-15C2-5B86-D686DCF0D95E}"/>
                </a:ext>
              </a:extLst>
            </p:cNvPr>
            <p:cNvSpPr/>
            <p:nvPr userDrawn="1"/>
          </p:nvSpPr>
          <p:spPr>
            <a:xfrm>
              <a:off x="1281112" y="1551709"/>
              <a:ext cx="9303761" cy="4126799"/>
            </a:xfrm>
            <a:prstGeom prst="rect">
              <a:avLst/>
            </a:prstGeom>
            <a:noFill/>
            <a:ln w="28575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ED4CB7E-1CB8-4177-2F4D-A8C517137EEC}"/>
                </a:ext>
              </a:extLst>
            </p:cNvPr>
            <p:cNvGrpSpPr/>
            <p:nvPr userDrawn="1"/>
          </p:nvGrpSpPr>
          <p:grpSpPr>
            <a:xfrm>
              <a:off x="1056488" y="840235"/>
              <a:ext cx="10079022" cy="5177530"/>
              <a:chOff x="1056489" y="805779"/>
              <a:chExt cx="10079022" cy="5177530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6FE904B-B1F0-F9D9-0C65-49BE23F0262D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056489" y="805779"/>
                <a:ext cx="1529579" cy="1463040"/>
              </a:xfrm>
              <a:prstGeom prst="rect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24A792C-EAD1-1E17-404C-EFBEF7BFF411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9672471" y="4598834"/>
                <a:ext cx="1463040" cy="1384475"/>
              </a:xfrm>
              <a:prstGeom prst="rect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6B80C71-44A6-A20E-ADA6-E833525161AD}"/>
                </a:ext>
              </a:extLst>
            </p:cNvPr>
            <p:cNvSpPr/>
            <p:nvPr userDrawn="1"/>
          </p:nvSpPr>
          <p:spPr>
            <a:xfrm>
              <a:off x="1898073" y="1426825"/>
              <a:ext cx="8859548" cy="37132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FAE7328-7EDE-37C7-F66D-C16DB72D3781}"/>
              </a:ext>
            </a:extLst>
          </p:cNvPr>
          <p:cNvSpPr txBox="1"/>
          <p:nvPr userDrawn="1"/>
        </p:nvSpPr>
        <p:spPr>
          <a:xfrm>
            <a:off x="847923" y="-38211"/>
            <a:ext cx="1174283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7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</a:t>
            </a:r>
            <a:endParaRPr lang="en-US" sz="28700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A022E4-7A5B-F38A-7860-1E739DC9F6F8}"/>
              </a:ext>
            </a:extLst>
          </p:cNvPr>
          <p:cNvSpPr txBox="1"/>
          <p:nvPr userDrawn="1"/>
        </p:nvSpPr>
        <p:spPr>
          <a:xfrm rot="10800000">
            <a:off x="10220850" y="2245036"/>
            <a:ext cx="1280669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7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</a:t>
            </a:r>
            <a:endParaRPr lang="en-US" sz="28700" dirty="0">
              <a:solidFill>
                <a:schemeClr val="tx1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D35EDAB-E6BE-EF48-6A71-C474D859C3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58634" y="1633596"/>
            <a:ext cx="7185513" cy="283712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Really epic quote that makes everyone think. 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0E2487A3-96FC-5837-5057-788C5EA5DC72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>
          <a:xfrm>
            <a:off x="2358635" y="4669312"/>
            <a:ext cx="7185512" cy="395869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0" i="0">
                <a:solidFill>
                  <a:schemeClr val="accent4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- Quoted Source</a:t>
            </a:r>
          </a:p>
        </p:txBody>
      </p:sp>
    </p:spTree>
    <p:extLst>
      <p:ext uri="{BB962C8B-B14F-4D97-AF65-F5344CB8AC3E}">
        <p14:creationId xmlns:p14="http://schemas.microsoft.com/office/powerpoint/2010/main" val="41384590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E34B6771-4E1A-8E8A-57C7-9B89E2B0D453}"/>
              </a:ext>
            </a:extLst>
          </p:cNvPr>
          <p:cNvGrpSpPr/>
          <p:nvPr userDrawn="1"/>
        </p:nvGrpSpPr>
        <p:grpSpPr>
          <a:xfrm>
            <a:off x="599927" y="502602"/>
            <a:ext cx="10992146" cy="5852796"/>
            <a:chOff x="1056488" y="840235"/>
            <a:chExt cx="10079022" cy="5366601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DF2B4CC-2CCE-0995-5F08-8729B2906144}"/>
                </a:ext>
              </a:extLst>
            </p:cNvPr>
            <p:cNvSpPr/>
            <p:nvPr userDrawn="1"/>
          </p:nvSpPr>
          <p:spPr>
            <a:xfrm>
              <a:off x="1281112" y="1179492"/>
              <a:ext cx="9629775" cy="4499016"/>
            </a:xfrm>
            <a:prstGeom prst="rect">
              <a:avLst/>
            </a:prstGeom>
            <a:noFill/>
            <a:ln w="31750" cap="rnd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B0F4778-506D-12C4-CFF1-B44705EBF1E7}"/>
                </a:ext>
              </a:extLst>
            </p:cNvPr>
            <p:cNvSpPr/>
            <p:nvPr userDrawn="1"/>
          </p:nvSpPr>
          <p:spPr>
            <a:xfrm>
              <a:off x="1108364" y="2202873"/>
              <a:ext cx="8686800" cy="40039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DA25866-82EC-15C2-5B86-D686DCF0D95E}"/>
                </a:ext>
              </a:extLst>
            </p:cNvPr>
            <p:cNvSpPr/>
            <p:nvPr userDrawn="1"/>
          </p:nvSpPr>
          <p:spPr>
            <a:xfrm>
              <a:off x="1281112" y="1551709"/>
              <a:ext cx="9303761" cy="4126799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ED4CB7E-1CB8-4177-2F4D-A8C517137EEC}"/>
                </a:ext>
              </a:extLst>
            </p:cNvPr>
            <p:cNvGrpSpPr/>
            <p:nvPr userDrawn="1"/>
          </p:nvGrpSpPr>
          <p:grpSpPr>
            <a:xfrm>
              <a:off x="1056488" y="840235"/>
              <a:ext cx="10079022" cy="5177530"/>
              <a:chOff x="1056489" y="805779"/>
              <a:chExt cx="10079022" cy="5177530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6FE904B-B1F0-F9D9-0C65-49BE23F0262D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056489" y="805779"/>
                <a:ext cx="1529579" cy="146304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24A792C-EAD1-1E17-404C-EFBEF7BFF411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9672471" y="4601177"/>
                <a:ext cx="1463040" cy="1382132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6B80C71-44A6-A20E-ADA6-E833525161AD}"/>
                </a:ext>
              </a:extLst>
            </p:cNvPr>
            <p:cNvSpPr/>
            <p:nvPr userDrawn="1"/>
          </p:nvSpPr>
          <p:spPr>
            <a:xfrm>
              <a:off x="1898073" y="1426825"/>
              <a:ext cx="8859548" cy="37132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FAE7328-7EDE-37C7-F66D-C16DB72D3781}"/>
              </a:ext>
            </a:extLst>
          </p:cNvPr>
          <p:cNvSpPr txBox="1"/>
          <p:nvPr userDrawn="1"/>
        </p:nvSpPr>
        <p:spPr>
          <a:xfrm>
            <a:off x="847923" y="-38211"/>
            <a:ext cx="1174283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700" b="0" i="0" u="none" strike="noStrike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“</a:t>
            </a:r>
            <a:endParaRPr lang="en-US" sz="287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A022E4-7A5B-F38A-7860-1E739DC9F6F8}"/>
              </a:ext>
            </a:extLst>
          </p:cNvPr>
          <p:cNvSpPr txBox="1"/>
          <p:nvPr userDrawn="1"/>
        </p:nvSpPr>
        <p:spPr>
          <a:xfrm rot="10800000">
            <a:off x="10220850" y="2245036"/>
            <a:ext cx="1280669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700" b="0" i="0" u="none" strike="noStrike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“</a:t>
            </a:r>
            <a:endParaRPr lang="en-US" sz="28700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D35EDAB-E6BE-EF48-6A71-C474D859C3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58634" y="1633596"/>
            <a:ext cx="7185513" cy="283712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Really epic quote that makes everyone think. 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0E2487A3-96FC-5837-5057-788C5EA5DC72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>
          <a:xfrm>
            <a:off x="2358635" y="4669312"/>
            <a:ext cx="7185512" cy="395869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- Quoted Source</a:t>
            </a:r>
          </a:p>
        </p:txBody>
      </p:sp>
    </p:spTree>
    <p:extLst>
      <p:ext uri="{BB962C8B-B14F-4D97-AF65-F5344CB8AC3E}">
        <p14:creationId xmlns:p14="http://schemas.microsoft.com/office/powerpoint/2010/main" val="20353354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E34B6771-4E1A-8E8A-57C7-9B89E2B0D453}"/>
              </a:ext>
            </a:extLst>
          </p:cNvPr>
          <p:cNvGrpSpPr/>
          <p:nvPr userDrawn="1"/>
        </p:nvGrpSpPr>
        <p:grpSpPr>
          <a:xfrm>
            <a:off x="599927" y="502602"/>
            <a:ext cx="10992146" cy="5852796"/>
            <a:chOff x="1056488" y="840235"/>
            <a:chExt cx="10079022" cy="5366601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DF2B4CC-2CCE-0995-5F08-8729B2906144}"/>
                </a:ext>
              </a:extLst>
            </p:cNvPr>
            <p:cNvSpPr/>
            <p:nvPr userDrawn="1"/>
          </p:nvSpPr>
          <p:spPr>
            <a:xfrm>
              <a:off x="1281112" y="1179492"/>
              <a:ext cx="9629775" cy="4499016"/>
            </a:xfrm>
            <a:prstGeom prst="rect">
              <a:avLst/>
            </a:prstGeom>
            <a:noFill/>
            <a:ln w="31750" cap="rnd">
              <a:solidFill>
                <a:schemeClr val="accent4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B0F4778-506D-12C4-CFF1-B44705EBF1E7}"/>
                </a:ext>
              </a:extLst>
            </p:cNvPr>
            <p:cNvSpPr/>
            <p:nvPr userDrawn="1"/>
          </p:nvSpPr>
          <p:spPr>
            <a:xfrm>
              <a:off x="1108364" y="2202873"/>
              <a:ext cx="8686800" cy="400396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DA25866-82EC-15C2-5B86-D686DCF0D95E}"/>
                </a:ext>
              </a:extLst>
            </p:cNvPr>
            <p:cNvSpPr/>
            <p:nvPr userDrawn="1"/>
          </p:nvSpPr>
          <p:spPr>
            <a:xfrm>
              <a:off x="1281112" y="1551709"/>
              <a:ext cx="9303761" cy="4126799"/>
            </a:xfrm>
            <a:prstGeom prst="rect">
              <a:avLst/>
            </a:prstGeom>
            <a:noFill/>
            <a:ln w="28575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ED4CB7E-1CB8-4177-2F4D-A8C517137EEC}"/>
                </a:ext>
              </a:extLst>
            </p:cNvPr>
            <p:cNvGrpSpPr/>
            <p:nvPr userDrawn="1"/>
          </p:nvGrpSpPr>
          <p:grpSpPr>
            <a:xfrm>
              <a:off x="1056488" y="840235"/>
              <a:ext cx="10079022" cy="5177530"/>
              <a:chOff x="1056489" y="805779"/>
              <a:chExt cx="10079022" cy="5177530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6FE904B-B1F0-F9D9-0C65-49BE23F0262D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056489" y="805779"/>
                <a:ext cx="1529579" cy="1463040"/>
              </a:xfrm>
              <a:prstGeom prst="rect">
                <a:avLst/>
              </a:prstGeom>
              <a:solidFill>
                <a:schemeClr val="accent3"/>
              </a:solidFill>
              <a:ln w="190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24A792C-EAD1-1E17-404C-EFBEF7BFF411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9672471" y="4598834"/>
                <a:ext cx="1463040" cy="1384475"/>
              </a:xfrm>
              <a:prstGeom prst="rect">
                <a:avLst/>
              </a:prstGeom>
              <a:solidFill>
                <a:schemeClr val="accent3"/>
              </a:solidFill>
              <a:ln w="190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6B80C71-44A6-A20E-ADA6-E833525161AD}"/>
                </a:ext>
              </a:extLst>
            </p:cNvPr>
            <p:cNvSpPr/>
            <p:nvPr userDrawn="1"/>
          </p:nvSpPr>
          <p:spPr>
            <a:xfrm>
              <a:off x="1898073" y="1426825"/>
              <a:ext cx="8859548" cy="371321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FAE7328-7EDE-37C7-F66D-C16DB72D3781}"/>
              </a:ext>
            </a:extLst>
          </p:cNvPr>
          <p:cNvSpPr txBox="1"/>
          <p:nvPr userDrawn="1"/>
        </p:nvSpPr>
        <p:spPr>
          <a:xfrm>
            <a:off x="847923" y="-38211"/>
            <a:ext cx="1174283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7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</a:t>
            </a:r>
            <a:endParaRPr lang="en-US" sz="28700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A022E4-7A5B-F38A-7860-1E739DC9F6F8}"/>
              </a:ext>
            </a:extLst>
          </p:cNvPr>
          <p:cNvSpPr txBox="1"/>
          <p:nvPr userDrawn="1"/>
        </p:nvSpPr>
        <p:spPr>
          <a:xfrm rot="10800000">
            <a:off x="10220850" y="2245036"/>
            <a:ext cx="1280669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7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</a:t>
            </a:r>
            <a:endParaRPr lang="en-US" sz="28700" dirty="0">
              <a:solidFill>
                <a:schemeClr val="tx1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D35EDAB-E6BE-EF48-6A71-C474D859C3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58634" y="1633596"/>
            <a:ext cx="7185513" cy="283712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Really epic quote that makes everyone think. 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0E2487A3-96FC-5837-5057-788C5EA5DC72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>
          <a:xfrm>
            <a:off x="2358635" y="4669312"/>
            <a:ext cx="7185512" cy="395869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0" i="0">
                <a:solidFill>
                  <a:schemeClr val="accent4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- Quoted Source</a:t>
            </a:r>
          </a:p>
        </p:txBody>
      </p:sp>
    </p:spTree>
    <p:extLst>
      <p:ext uri="{BB962C8B-B14F-4D97-AF65-F5344CB8AC3E}">
        <p14:creationId xmlns:p14="http://schemas.microsoft.com/office/powerpoint/2010/main" val="28992575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48D21876-BA52-68C5-B349-CF8087B112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93EFA5F-3C5D-E81F-71B1-ECAE22A10CC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6573" y="5641905"/>
            <a:ext cx="5714252" cy="395869"/>
          </a:xfrm>
        </p:spPr>
        <p:txBody>
          <a:bodyPr>
            <a:noAutofit/>
          </a:bodyPr>
          <a:lstStyle>
            <a:lvl1pPr marL="0" indent="0" algn="l">
              <a:buNone/>
              <a:defRPr sz="18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 err="1"/>
              <a:t>emailaddress@qlik.com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55610A0-F551-19F2-EECF-A7E853EED7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97989" y="1101188"/>
            <a:ext cx="3328576" cy="1849208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F12448B-DA87-1FE1-7CBF-F9F79437F72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6186" y="5004559"/>
            <a:ext cx="5714639" cy="46155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Call to Action</a:t>
            </a:r>
          </a:p>
        </p:txBody>
      </p:sp>
    </p:spTree>
    <p:extLst>
      <p:ext uri="{BB962C8B-B14F-4D97-AF65-F5344CB8AC3E}">
        <p14:creationId xmlns:p14="http://schemas.microsoft.com/office/powerpoint/2010/main" val="32959947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4106C380-C29E-7390-E154-057377E5D8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3149500-7912-3E96-5FB3-CBDE4B5931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97990" y="1101186"/>
            <a:ext cx="3328576" cy="1849208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67FA24A-C52F-B256-7134-1984E46267F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6573" y="5641905"/>
            <a:ext cx="5714252" cy="395869"/>
          </a:xfrm>
        </p:spPr>
        <p:txBody>
          <a:bodyPr>
            <a:noAutofit/>
          </a:bodyPr>
          <a:lstStyle>
            <a:lvl1pPr marL="0" indent="0" algn="l">
              <a:buNone/>
              <a:defRPr sz="18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 err="1"/>
              <a:t>emailaddress@qlik.com</a:t>
            </a:r>
            <a:endParaRPr lang="en-US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67CD7BB3-59A8-A18C-D485-85765FFC2A9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6186" y="5004559"/>
            <a:ext cx="5714639" cy="46155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Call to Action</a:t>
            </a:r>
          </a:p>
        </p:txBody>
      </p:sp>
    </p:spTree>
    <p:extLst>
      <p:ext uri="{BB962C8B-B14F-4D97-AF65-F5344CB8AC3E}">
        <p14:creationId xmlns:p14="http://schemas.microsoft.com/office/powerpoint/2010/main" val="11590570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- Appendi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8A559919-4E94-0D09-D59B-D78DB4C2CA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V="1">
            <a:off x="1664288" y="0"/>
            <a:ext cx="10527712" cy="6858000"/>
          </a:xfrm>
          <a:prstGeom prst="rect">
            <a:avLst/>
          </a:prstGeom>
        </p:spPr>
      </p:pic>
      <p:pic>
        <p:nvPicPr>
          <p:cNvPr id="7" name="Picture 6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08C28AA4-24E2-AEB6-7F25-DB964665F4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1188631" cy="6858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3149500-7912-3E96-5FB3-CBDE4B5931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431712" y="1579791"/>
            <a:ext cx="3328576" cy="1849208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9FD58846-2F05-9B9A-3023-E9972305255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73287" y="4176711"/>
            <a:ext cx="5645426" cy="1101498"/>
          </a:xfrm>
        </p:spPr>
        <p:txBody>
          <a:bodyPr anchor="t">
            <a:noAutofit/>
          </a:bodyPr>
          <a:lstStyle>
            <a:lvl1pPr marL="0" indent="0" algn="ctr">
              <a:buNone/>
              <a:defRPr sz="3200" b="1" i="0">
                <a:solidFill>
                  <a:schemeClr val="accent4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17922887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CB2775-04B1-042D-9E53-D0E611B5F8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7539" y="1847574"/>
            <a:ext cx="10776922" cy="41087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4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5C6EB-E1EF-941D-4DCC-85515B9FC0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98226" y="61899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E8039E6F-BAB9-860A-05B9-20EE9032C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539" y="365125"/>
            <a:ext cx="1077692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2269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41" r:id="rId2"/>
    <p:sldLayoutId id="2147483729" r:id="rId3"/>
    <p:sldLayoutId id="2147483747" r:id="rId4"/>
    <p:sldLayoutId id="2147483728" r:id="rId5"/>
    <p:sldLayoutId id="2147483727" r:id="rId6"/>
    <p:sldLayoutId id="2147483720" r:id="rId7"/>
    <p:sldLayoutId id="2147483724" r:id="rId8"/>
    <p:sldLayoutId id="2147483702" r:id="rId9"/>
    <p:sldLayoutId id="2147483746" r:id="rId10"/>
    <p:sldLayoutId id="2147483726" r:id="rId11"/>
    <p:sldLayoutId id="2147483732" r:id="rId12"/>
    <p:sldLayoutId id="2147483668" r:id="rId13"/>
    <p:sldLayoutId id="2147483750" r:id="rId14"/>
    <p:sldLayoutId id="2147483669" r:id="rId15"/>
    <p:sldLayoutId id="2147483670" r:id="rId16"/>
    <p:sldLayoutId id="2147483733" r:id="rId17"/>
    <p:sldLayoutId id="2147483752" r:id="rId18"/>
    <p:sldLayoutId id="2147483751" r:id="rId19"/>
    <p:sldLayoutId id="2147483748" r:id="rId20"/>
    <p:sldLayoutId id="2147483743" r:id="rId21"/>
    <p:sldLayoutId id="2147483742" r:id="rId22"/>
    <p:sldLayoutId id="2147483705" r:id="rId23"/>
    <p:sldLayoutId id="2147483735" r:id="rId24"/>
    <p:sldLayoutId id="2147483683" r:id="rId25"/>
    <p:sldLayoutId id="2147483738" r:id="rId26"/>
    <p:sldLayoutId id="2147483715" r:id="rId27"/>
    <p:sldLayoutId id="2147483749" r:id="rId28"/>
    <p:sldLayoutId id="2147483660" r:id="rId29"/>
    <p:sldLayoutId id="2147483682" r:id="rId30"/>
    <p:sldLayoutId id="2147483676" r:id="rId31"/>
    <p:sldLayoutId id="2147483691" r:id="rId32"/>
    <p:sldLayoutId id="2147483675" r:id="rId33"/>
    <p:sldLayoutId id="2147483745" r:id="rId34"/>
    <p:sldLayoutId id="2147483689" r:id="rId35"/>
    <p:sldLayoutId id="2147483690" r:id="rId36"/>
    <p:sldLayoutId id="2147483754" r:id="rId3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Inter SemiBold" panose="02000503000000020004" pitchFamily="2" charset="0"/>
          <a:ea typeface="Inter SemiBold" panose="02000503000000020004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20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FFFFFF"/>
                </a:solidFill>
                <a:latin typeface="Inter"/>
              </a:rPr>
              <a:t>Optimisation des performances
qlik-embed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sz="2000" b="0">
                <a:solidFill>
                  <a:srgbClr val="10CFC9"/>
                </a:solidFill>
                <a:latin typeface="Inter"/>
              </a:rPr>
              <a:t>Cache · Lazy Loading · Defer · Version CDN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19416C"/>
                </a:solidFill>
                <a:latin typeface="Inter"/>
              </a:rPr>
              <a:t>1. Cache du token d'impersonation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45659"/>
                </a:solidFill>
                <a:latin typeface="Inter"/>
              </a:rPr>
              <a:t>• Le token Qlik est valable 6h — inutile de le regénérer à chaque requête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45659"/>
                </a:solidFill>
                <a:latin typeface="Inter"/>
              </a:rPr>
              <a:t>• Cache en mémoire (dict) avec expiration automatique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45659"/>
                </a:solidFill>
                <a:latin typeface="Inter"/>
              </a:rPr>
              <a:t>• Évite 2 appels API (admin token + impersonation) par chargement de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D3543"/>
                </a:solidFill>
                <a:latin typeface="Courier New"/>
              </a:rPr>
              <a:t>_token_cache = {}  # cache_key -&gt; {"token": str, "expires_at": float}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800">
              <a:solidFill>
                <a:srgbClr val="2D3543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D3543"/>
                </a:solidFill>
                <a:latin typeface="Courier New"/>
              </a:rPr>
              <a:t>def get_qlik_impersonation_token(tenant_url, cid, secret, email):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D3543"/>
                </a:solidFill>
                <a:latin typeface="Courier New"/>
              </a:rPr>
              <a:t>    cache_key = f"{tenant_url}|{cid}|{email}"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D3543"/>
                </a:solidFill>
                <a:latin typeface="Courier New"/>
              </a:rPr>
              <a:t>    cached = _token_cache.get(cache_key)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D3543"/>
                </a:solidFill>
                <a:latin typeface="Courier New"/>
              </a:rPr>
              <a:t>    if cached and time.time() &lt; cached["expires_at"] - 60: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D3543"/>
                </a:solidFill>
                <a:latin typeface="Courier New"/>
              </a:rPr>
              <a:t>        return cached["token"]  # ← cache hit : 0 appel API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D3543"/>
                </a:solidFill>
                <a:latin typeface="Courier New"/>
              </a:rPr>
              <a:t>    # ... appel API Qlik ...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D3543"/>
                </a:solidFill>
                <a:latin typeface="Courier New"/>
              </a:rPr>
              <a:t>    if token: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D3543"/>
                </a:solidFill>
                <a:latin typeface="Courier New"/>
              </a:rPr>
              <a:t>        _token_cache[cache_key] =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D3543"/>
                </a:solidFill>
                <a:latin typeface="Courier New"/>
              </a:rPr>
              <a:t>            "token": token,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D3543"/>
                </a:solidFill>
                <a:latin typeface="Courier New"/>
              </a:rPr>
              <a:t>            "expires_at": time.time() + data["expires_in"],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D3543"/>
                </a:solidFill>
                <a:latin typeface="Courier New"/>
              </a:rPr>
              <a:t>  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D3543"/>
                </a:solidFill>
                <a:latin typeface="Courier New"/>
              </a:rPr>
              <a:t>    return token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19416C"/>
                </a:solidFill>
                <a:latin typeface="Inter"/>
              </a:rPr>
              <a:t>2. Cache du token côté client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45659"/>
                </a:solidFill>
                <a:latin typeface="Inter"/>
              </a:rPr>
              <a:t>• getQlikToken() met en cache le token dans une variable 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45659"/>
                </a:solidFill>
                <a:latin typeface="Inter"/>
              </a:rPr>
              <a:t>• Évite un appel fetch /api/qlik-token à chaque render du composant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45659"/>
                </a:solidFill>
                <a:latin typeface="Inter"/>
              </a:rPr>
              <a:t>• Le token est réutilisé jusqu'à 60s avant son expiration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D3543"/>
                </a:solidFill>
                <a:latin typeface="Courier New"/>
              </a:rPr>
              <a:t>let _qlikTokenCache = null, _qlikTokenExpiry = 0;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800">
              <a:solidFill>
                <a:srgbClr val="2D3543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D3543"/>
                </a:solidFill>
                <a:latin typeface="Courier New"/>
              </a:rPr>
              <a:t>async function getQlikToken()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D3543"/>
                </a:solidFill>
                <a:latin typeface="Courier New"/>
              </a:rPr>
              <a:t>    const now = Date.now() / 1000;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D3543"/>
                </a:solidFill>
                <a:latin typeface="Courier New"/>
              </a:rPr>
              <a:t>    if (_qlikTokenCache &amp;&amp; now &lt; _qlikTokenExpiry - 60)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D3543"/>
                </a:solidFill>
                <a:latin typeface="Courier New"/>
              </a:rPr>
              <a:t>        return _qlikTokenCache;  // ← pas de fetch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800">
              <a:solidFill>
                <a:srgbClr val="2D3543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D3543"/>
                </a:solidFill>
                <a:latin typeface="Courier New"/>
              </a:rPr>
              <a:t>    const resp = await fetch("/api/qlik-token");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D3543"/>
                </a:solidFill>
                <a:latin typeface="Courier New"/>
              </a:rPr>
              <a:t>    const data = await resp.json();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D3543"/>
                </a:solidFill>
                <a:latin typeface="Courier New"/>
              </a:rPr>
              <a:t>    _qlikTokenCache = data.access_token;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D3543"/>
                </a:solidFill>
                <a:latin typeface="Courier New"/>
              </a:rPr>
              <a:t>    _qlikTokenExpiry = data.expires_at || (now + 21600);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D3543"/>
                </a:solidFill>
                <a:latin typeface="Courier New"/>
              </a:rPr>
              <a:t>    return data.access_token;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D3543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19416C"/>
                </a:solidFill>
                <a:latin typeface="Inter"/>
              </a:rPr>
              <a:t>3. Chargement différé (defer)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45659"/>
                </a:solidFill>
                <a:latin typeface="Inter"/>
              </a:rPr>
              <a:t>• L'attribut defer sur la balise script évite de bloquer le rendu HTML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45659"/>
                </a:solidFill>
                <a:latin typeface="Inter"/>
              </a:rPr>
              <a:t>• Le navigateur charge le script en parallèle, l'exécute après le DOM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D3543"/>
                </a:solidFill>
                <a:latin typeface="Courier New"/>
              </a:rPr>
              <a:t>&lt;!-- Avant : bloque le rendu --&gt;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D3543"/>
                </a:solidFill>
                <a:latin typeface="Courier New"/>
              </a:rPr>
              <a:t>&lt;script src="...@qlik/embed-web-components@1/dist/index.min.js" ...&gt;&lt;/script&gt;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800">
              <a:solidFill>
                <a:srgbClr val="2D3543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D3543"/>
                </a:solidFill>
                <a:latin typeface="Courier New"/>
              </a:rPr>
              <a:t>&lt;!-- Après : chargement non-bloquant --&gt;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D3543"/>
                </a:solidFill>
                <a:latin typeface="Courier New"/>
              </a:rPr>
              <a:t>&lt;script src="...@qlik/embed-web-components@1.3.0/dist/index.min.js"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D3543"/>
                </a:solidFill>
                <a:latin typeface="Courier New"/>
              </a:rPr>
              <a:t>        defer ...&gt;&lt;/script&gt;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19416C"/>
                </a:solidFill>
                <a:latin typeface="Inter"/>
              </a:rPr>
              <a:t>4. Lazy loading (Intersection Observer)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45659"/>
                </a:solidFill>
                <a:latin typeface="Inter"/>
              </a:rPr>
              <a:t>• Le graphique Qlik ne se charge que quand il devient visible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45659"/>
                </a:solidFill>
                <a:latin typeface="Inter"/>
              </a:rPr>
              <a:t>• Intersection Observer avec rootMargin: 200px (préchargement anticipé)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45659"/>
                </a:solidFill>
                <a:latin typeface="Inter"/>
              </a:rPr>
              <a:t>• Essentiel si la page contient plusieurs onglets ou charts en bas de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D3543"/>
                </a:solidFill>
                <a:latin typeface="Courier New"/>
              </a:rPr>
              <a:t>&lt;qlik-embed id="qlik-chart" ...&gt;&lt;/qlik-embed&gt;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D3543"/>
                </a:solidFill>
                <a:latin typeface="Courier New"/>
              </a:rPr>
              <a:t>&lt;script&gt;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D3543"/>
                </a:solidFill>
                <a:latin typeface="Courier New"/>
              </a:rPr>
              <a:t>const el = document.getElementById('qlik-chart');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D3543"/>
                </a:solidFill>
                <a:latin typeface="Courier New"/>
              </a:rPr>
              <a:t>const obs = new IntersectionObserver((entries) =&gt;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D3543"/>
                </a:solidFill>
                <a:latin typeface="Courier New"/>
              </a:rPr>
              <a:t>    entries.forEach(e =&gt;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D3543"/>
                </a:solidFill>
                <a:latin typeface="Courier New"/>
              </a:rPr>
              <a:t>        if (e.isIntersecting)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D3543"/>
                </a:solidFill>
                <a:latin typeface="Courier New"/>
              </a:rPr>
              <a:t>            e.target.dataset.visible = '1';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D3543"/>
                </a:solidFill>
                <a:latin typeface="Courier New"/>
              </a:rPr>
              <a:t>            obs.unobserve(e.target);  // une seule fois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D3543"/>
                </a:solidFill>
                <a:latin typeface="Courier New"/>
              </a:rPr>
              <a:t>  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D3543"/>
                </a:solidFill>
                <a:latin typeface="Courier New"/>
              </a:rPr>
              <a:t>    });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D3543"/>
                </a:solidFill>
                <a:latin typeface="Courier New"/>
              </a:rPr>
              <a:t>}, { rootMargin: '200px' });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D3543"/>
                </a:solidFill>
                <a:latin typeface="Courier New"/>
              </a:rPr>
              <a:t>obs.observe(el);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D3543"/>
                </a:solidFill>
                <a:latin typeface="Courier New"/>
              </a:rPr>
              <a:t>&lt;/script&gt;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19416C"/>
                </a:solidFill>
                <a:latin typeface="Inter"/>
              </a:rPr>
              <a:t>5. Version CDN figée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45659"/>
                </a:solidFill>
                <a:latin typeface="Inter"/>
              </a:rPr>
              <a:t>• @1 (version flottante) change sans prévenir → cache navigateur invalidé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45659"/>
                </a:solidFill>
                <a:latin typeface="Inter"/>
              </a:rPr>
              <a:t>• @1.3.0 (version exacte) → pas de surprise, cache long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45659"/>
                </a:solidFill>
                <a:latin typeface="Inter"/>
              </a:rPr>
              <a:t>• Résultat : chargement plus rapide après la première visite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D3543"/>
                </a:solidFill>
                <a:latin typeface="Courier New"/>
              </a:rPr>
              <a:t>&lt;!-- Flottant → changements imprévisibles, cache invalidé --&gt;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D3543"/>
                </a:solidFill>
                <a:latin typeface="Courier New"/>
              </a:rPr>
              <a:t>@qlik/embed-web-components@1/dist/index.min.js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800">
              <a:solidFill>
                <a:srgbClr val="2D3543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D3543"/>
                </a:solidFill>
                <a:latin typeface="Courier New"/>
              </a:rPr>
              <a:t>&lt;!-- Figé → stable, cache navigateur optimal --&gt;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2D3543"/>
                </a:solidFill>
                <a:latin typeface="Courier New"/>
              </a:rPr>
              <a:t>@qlik/embed-web-components@1.3.0/dist/index.min.js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FFFFFF"/>
                </a:solidFill>
                <a:latin typeface="Inter"/>
              </a:rPr>
              <a:t>Optimisations appliquées ✓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10CFC9"/>
                </a:solidFill>
                <a:latin typeface="Inter"/>
              </a:rPr>
              <a:t>Cache backend · Cache client · defer · Lazy loading · CDN figé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19416C"/>
                </a:solidFill>
                <a:latin typeface="Inter"/>
              </a:rPr>
              <a:t>Résultats d'optimisation : Avant vs Après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29665" y="6451239"/>
            <a:ext cx="7123447" cy="196543"/>
          </a:xfrm>
        </p:spPr>
        <p:txBody>
          <a:bodyPr/>
          <a:lstStyle/>
          <a:p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5201234"/>
              </p:ext>
            </p:extLst>
          </p:nvPr>
        </p:nvGraphicFramePr>
        <p:xfrm>
          <a:off x="731520" y="1118544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</a:rPr>
                        <a:t>Mesure</a:t>
                      </a:r>
                    </a:p>
                  </a:txBody>
                  <a:tcPr>
                    <a:solidFill>
                      <a:srgbClr val="1941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</a:rPr>
                        <a:t>Avant</a:t>
                      </a:r>
                    </a:p>
                  </a:txBody>
                  <a:tcPr>
                    <a:solidFill>
                      <a:srgbClr val="1941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</a:rPr>
                        <a:t>Après (cold)</a:t>
                      </a:r>
                    </a:p>
                  </a:txBody>
                  <a:tcPr>
                    <a:solidFill>
                      <a:srgbClr val="1941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</a:rPr>
                        <a:t>Après (warm)</a:t>
                      </a:r>
                    </a:p>
                  </a:txBody>
                  <a:tcPr>
                    <a:solidFill>
                      <a:srgbClr val="1941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45659"/>
                          </a:solidFill>
                          <a:latin typeface="Inter"/>
                        </a:rPr>
                        <a:t>Page HTML (serveur)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45659"/>
                          </a:solidFill>
                          <a:latin typeface="Inter"/>
                        </a:rPr>
                        <a:t>309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45659"/>
                          </a:solidFill>
                          <a:latin typeface="Inter"/>
                        </a:rPr>
                        <a:t>312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45659"/>
                          </a:solidFill>
                          <a:latin typeface="Inter"/>
                        </a:rPr>
                        <a:t>292 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45659"/>
                          </a:solidFill>
                          <a:latin typeface="Inter"/>
                        </a:rPr>
                        <a:t>Token API (client)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45659"/>
                          </a:solidFill>
                          <a:latin typeface="Inter"/>
                        </a:rPr>
                        <a:t>316 ms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45659"/>
                          </a:solidFill>
                          <a:latin typeface="Inter"/>
                        </a:rPr>
                        <a:t>0 ms (injecté)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45659"/>
                          </a:solidFill>
                          <a:latin typeface="Inter"/>
                        </a:rPr>
                        <a:t>0 ms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45659"/>
                          </a:solidFill>
                          <a:latin typeface="Inter"/>
                        </a:rPr>
                        <a:t>Total estimé 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45659"/>
                          </a:solidFill>
                          <a:latin typeface="Inter"/>
                        </a:rPr>
                        <a:t>~625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45659"/>
                          </a:solidFill>
                          <a:latin typeface="Inter"/>
                        </a:rPr>
                        <a:t>~312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45659"/>
                          </a:solidFill>
                          <a:latin typeface="Inter"/>
                        </a:rPr>
                        <a:t>~292 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67886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545659"/>
                </a:solidFill>
                <a:latin typeface="Inter"/>
              </a:rPr>
              <a:t>• Token pré-résolu dans Promise.resolve() → zéro appel réseau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9034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545659"/>
                </a:solidFill>
                <a:latin typeface="Inter"/>
              </a:rPr>
              <a:t>• Preconnect CDN + tenant Qlik → connexions anticipées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0182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545659"/>
                </a:solidFill>
                <a:latin typeface="Inter"/>
              </a:rPr>
              <a:t>• Preload du script qlik-embed → téléchargement prioritaire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1330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545659"/>
                </a:solidFill>
                <a:latin typeface="Inter"/>
              </a:rPr>
              <a:t>• Cache backend → token Qlik regénéré seulement si expiré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2478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dirty="0">
                <a:solidFill>
                  <a:srgbClr val="545659"/>
                </a:solidFill>
                <a:latin typeface="Inter"/>
              </a:rPr>
              <a:t>• Cache client JS → pas de fetch /</a:t>
            </a:r>
            <a:r>
              <a:rPr sz="1300" dirty="0" err="1">
                <a:solidFill>
                  <a:srgbClr val="545659"/>
                </a:solidFill>
                <a:latin typeface="Inter"/>
              </a:rPr>
              <a:t>api</a:t>
            </a:r>
            <a:r>
              <a:rPr sz="1300" dirty="0">
                <a:solidFill>
                  <a:srgbClr val="545659"/>
                </a:solidFill>
                <a:latin typeface="Inter"/>
              </a:rPr>
              <a:t>/</a:t>
            </a:r>
            <a:r>
              <a:rPr sz="1300" dirty="0" err="1">
                <a:solidFill>
                  <a:srgbClr val="545659"/>
                </a:solidFill>
                <a:latin typeface="Inter"/>
              </a:rPr>
              <a:t>qlik</a:t>
            </a:r>
            <a:r>
              <a:rPr sz="1300" dirty="0">
                <a:solidFill>
                  <a:srgbClr val="545659"/>
                </a:solidFill>
                <a:latin typeface="Inter"/>
              </a:rPr>
              <a:t>-token entre les renders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19416C"/>
                </a:solidFill>
                <a:latin typeface="Inter"/>
              </a:rPr>
              <a:t>Grille des optimisations appliquées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01168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6571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</a:rPr>
                        <a:t>Optimisation</a:t>
                      </a:r>
                    </a:p>
                  </a:txBody>
                  <a:tcPr>
                    <a:solidFill>
                      <a:srgbClr val="1941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</a:rPr>
                        <a:t>Gain</a:t>
                      </a:r>
                    </a:p>
                  </a:txBody>
                  <a:tcPr>
                    <a:solidFill>
                      <a:srgbClr val="1941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</a:rPr>
                        <a:t>Où</a:t>
                      </a:r>
                    </a:p>
                  </a:txBody>
                  <a:tcPr>
                    <a:solidFill>
                      <a:srgbClr val="1941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45659"/>
                          </a:solidFill>
                          <a:latin typeface="Inter"/>
                        </a:rPr>
                        <a:t>Cache backend (dict + TTL)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45659"/>
                          </a:solidFill>
                          <a:latin typeface="Inter"/>
                        </a:rPr>
                        <a:t>Évite 2 appels API Qlik à chaque requête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45659"/>
                          </a:solidFill>
                          <a:latin typeface="Inter"/>
                        </a:rPr>
                        <a:t>app.py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45659"/>
                          </a:solidFill>
                          <a:latin typeface="Inter"/>
                        </a:rPr>
                        <a:t>Cache client JS (Promise.resolve)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45659"/>
                          </a:solidFill>
                          <a:latin typeface="Inter"/>
                        </a:rPr>
                        <a:t>0 requête fetch pour le token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45659"/>
                          </a:solidFill>
                          <a:latin typeface="Inter"/>
                        </a:rPr>
                        <a:t>dashboard.html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45659"/>
                          </a:solidFill>
                          <a:latin typeface="Inter"/>
                        </a:rPr>
                        <a:t>defer sur le 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45659"/>
                          </a:solidFill>
                          <a:latin typeface="Inter"/>
                        </a:rPr>
                        <a:t>Ne bloque pas le rendu 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45659"/>
                          </a:solidFill>
                          <a:latin typeface="Inter"/>
                        </a:rPr>
                        <a:t>dashboard.html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45659"/>
                          </a:solidFill>
                          <a:latin typeface="Inter"/>
                        </a:rPr>
                        <a:t>preconnect CDN + Qlik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45659"/>
                          </a:solidFill>
                          <a:latin typeface="Inter"/>
                        </a:rPr>
                        <a:t>Connexion TCP/TLS anticipée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45659"/>
                          </a:solidFill>
                          <a:latin typeface="Inter"/>
                        </a:rPr>
                        <a:t>dashboard.html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45659"/>
                          </a:solidFill>
                          <a:latin typeface="Inter"/>
                        </a:rPr>
                        <a:t>preload script qlik-embed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45659"/>
                          </a:solidFill>
                          <a:latin typeface="Inter"/>
                        </a:rPr>
                        <a:t>Téléchargement prioritaire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45659"/>
                          </a:solidFill>
                          <a:latin typeface="Inter"/>
                        </a:rPr>
                        <a:t>dashboard.html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57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45659"/>
                          </a:solidFill>
                          <a:latin typeface="Inter"/>
                        </a:rPr>
                        <a:t>Lazy loading (IntersectionObserver)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45659"/>
                          </a:solidFill>
                          <a:latin typeface="Inter"/>
                        </a:rPr>
                        <a:t>Chart chargé seulement si visible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45659"/>
                          </a:solidFill>
                          <a:latin typeface="Inter"/>
                        </a:rPr>
                        <a:t>dashboard.html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9416C"/>
                </a:solidFill>
                <a:latin typeface="Inter"/>
              </a:rPr>
              <a:t>Configuration OAuth M2M impersonation sur Qlik Cloud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6" name="Oval 5"/>
          <p:cNvSpPr/>
          <p:nvPr/>
        </p:nvSpPr>
        <p:spPr>
          <a:xfrm>
            <a:off x="731520" y="1188720"/>
            <a:ext cx="320040" cy="320040"/>
          </a:xfrm>
          <a:prstGeom prst="ellipse">
            <a:avLst/>
          </a:prstGeom>
          <a:solidFill>
            <a:srgbClr val="009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170432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416C"/>
                </a:solidFill>
                <a:latin typeface="Inter"/>
              </a:rPr>
              <a:t>Créer un client M2M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447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45659"/>
                </a:solidFill>
                <a:latin typeface="Inter"/>
              </a:rPr>
              <a:t>Admin Console &gt; API &gt; Clients OAuth &gt; Créer un client de type machine-to-machine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1874519"/>
            <a:ext cx="320040" cy="320040"/>
          </a:xfrm>
          <a:prstGeom prst="ellipse">
            <a:avLst/>
          </a:prstGeom>
          <a:solidFill>
            <a:srgbClr val="009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856231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416C"/>
                </a:solidFill>
                <a:latin typeface="Inter"/>
              </a:rPr>
              <a:t>Activer l'impersonation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30551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45659"/>
                </a:solidFill>
                <a:latin typeface="Inter"/>
              </a:rPr>
              <a:t>Dans les options du client, cocher User Impersonation (nécessite un tenant Qlik Enterprise)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560320"/>
            <a:ext cx="320040" cy="320040"/>
          </a:xfrm>
          <a:prstGeom prst="ellipse">
            <a:avLst/>
          </a:prstGeom>
          <a:solidFill>
            <a:srgbClr val="009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542032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416C"/>
                </a:solidFill>
                <a:latin typeface="Inter"/>
              </a:rPr>
              <a:t>Définir les scopes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8163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45659"/>
                </a:solidFill>
                <a:latin typeface="Inter"/>
              </a:rPr>
              <a:t>Ajouter user_default (lecture analytics) et admin.users (recherche d'utilisateurs par email)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46120"/>
            <a:ext cx="320040" cy="320040"/>
          </a:xfrm>
          <a:prstGeom prst="ellipse">
            <a:avLst/>
          </a:prstGeom>
          <a:solidFill>
            <a:srgbClr val="009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227832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416C"/>
                </a:solidFill>
                <a:latin typeface="Inter"/>
              </a:rPr>
              <a:t>Noter le Client ID et Client Secret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502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45659"/>
                </a:solidFill>
                <a:latin typeface="Inter"/>
              </a:rPr>
              <a:t>Le secret n'est affiché qu'une fois → stocker dans les variables d'environnement du serveur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931920"/>
            <a:ext cx="320040" cy="320040"/>
          </a:xfrm>
          <a:prstGeom prst="ellipse">
            <a:avLst/>
          </a:prstGeom>
          <a:solidFill>
            <a:srgbClr val="009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913632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416C"/>
                </a:solidFill>
                <a:latin typeface="Inter"/>
              </a:rPr>
              <a:t>Obtenir un token admin (CC)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1879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45659"/>
                </a:solidFill>
                <a:latin typeface="Inter"/>
              </a:rPr>
              <a:t>POST /oauth/token avec grant_type=client_credentials → token avec les scopes configurés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4617720"/>
            <a:ext cx="320040" cy="320040"/>
          </a:xfrm>
          <a:prstGeom prst="ellipse">
            <a:avLst/>
          </a:prstGeom>
          <a:solidFill>
            <a:srgbClr val="009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599432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416C"/>
                </a:solidFill>
                <a:latin typeface="Inter"/>
              </a:rPr>
              <a:t>Échanger contre un token user (impersonation)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8737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45659"/>
                </a:solidFill>
                <a:latin typeface="Inter"/>
              </a:rPr>
              <a:t>POST /oauth/token avec grant_type=urn:qlik:oauth:user-impersonation + field: userId, value: &lt;qlik_user_id&gt;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5303520"/>
            <a:ext cx="320040" cy="320040"/>
          </a:xfrm>
          <a:prstGeom prst="ellipse">
            <a:avLst/>
          </a:prstGeom>
          <a:solidFill>
            <a:srgbClr val="009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285232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416C"/>
                </a:solidFill>
                <a:latin typeface="Inter"/>
              </a:rPr>
              <a:t>Utiliser le token user dans qlik-embed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5595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45659"/>
                </a:solidFill>
                <a:latin typeface="Inter"/>
              </a:rPr>
              <a:t>data-auth-type="Oauth2" data-client-id="&lt;cid&gt;" + getQlikToken() retourne le token user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9416C"/>
                </a:solidFill>
                <a:latin typeface="Inter"/>
              </a:rPr>
              <a:t>Recommandations et préconisations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109728" cy="109728"/>
          </a:xfrm>
          <a:prstGeom prst="roundRect">
            <a:avLst/>
          </a:prstGeom>
          <a:solidFill>
            <a:srgbClr val="009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9416C"/>
                </a:solidFill>
                <a:latin typeface="Inter"/>
              </a:rPr>
              <a:t>Utiliser userId (pas subject)  </a:t>
            </a:r>
            <a:r>
              <a:rPr sz="1050">
                <a:solidFill>
                  <a:srgbClr val="545659"/>
                </a:solidFill>
                <a:latin typeface="Inter"/>
              </a:rPr>
              <a:t>Qlik Cloud cherche l'utilisateur par son userId interne, pas par subject OAuth. Résoudre l'email en userId via GET /api/v1/users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37360"/>
            <a:ext cx="109728" cy="109728"/>
          </a:xfrm>
          <a:prstGeom prst="roundRect">
            <a:avLst/>
          </a:prstGeom>
          <a:solidFill>
            <a:srgbClr val="10C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9416C"/>
                </a:solidFill>
                <a:latin typeface="Inter"/>
              </a:rPr>
              <a:t>Cache double couche  </a:t>
            </a:r>
            <a:r>
              <a:rPr sz="1050">
                <a:solidFill>
                  <a:srgbClr val="545659"/>
                </a:solidFill>
                <a:latin typeface="Inter"/>
              </a:rPr>
              <a:t>Backend : dict avec TTL (5h55 sur 6h). Client JS : Promise.resolve() + éviction 60s avant expiration. Zéro appel si le token est encore valide.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31720"/>
            <a:ext cx="109728" cy="109728"/>
          </a:xfrm>
          <a:prstGeom prst="roundRect">
            <a:avLst/>
          </a:prstGeom>
          <a:solidFill>
            <a:srgbClr val="009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9416C"/>
                </a:solidFill>
                <a:latin typeface="Inter"/>
              </a:rPr>
              <a:t>Scope admin.users  </a:t>
            </a:r>
            <a:r>
              <a:rPr sz="1050">
                <a:solidFill>
                  <a:srgbClr val="545659"/>
                </a:solidFill>
                <a:latin typeface="Inter"/>
              </a:rPr>
              <a:t>user_default ne voit que 20 users. admin.users liste les 56 utilisateurs du tenant → nécessaire pour résoudre email → userId.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26080"/>
            <a:ext cx="109728" cy="109728"/>
          </a:xfrm>
          <a:prstGeom prst="roundRect">
            <a:avLst/>
          </a:prstGeom>
          <a:solidFill>
            <a:srgbClr val="10C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8803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9416C"/>
                </a:solidFill>
                <a:latin typeface="Inter"/>
              </a:rPr>
              <a:t>Secrets en variable d'environnement  </a:t>
            </a:r>
            <a:r>
              <a:rPr sz="1050">
                <a:solidFill>
                  <a:srgbClr val="545659"/>
                </a:solidFill>
                <a:latin typeface="Inter"/>
              </a:rPr>
              <a:t>Ne jamais hardcoder client_secret. Utiliser os.environ.get('CLIENT_SECRET'). Même chose pour SECRET_KEY Flask.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20440"/>
            <a:ext cx="109728" cy="109728"/>
          </a:xfrm>
          <a:prstGeom prst="roundRect">
            <a:avLst/>
          </a:prstGeom>
          <a:solidFill>
            <a:srgbClr val="009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4747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9416C"/>
                </a:solidFill>
                <a:latin typeface="Inter"/>
              </a:rPr>
              <a:t>Version CDN figée  </a:t>
            </a:r>
            <a:r>
              <a:rPr sz="1050">
                <a:solidFill>
                  <a:srgbClr val="545659"/>
                </a:solidFill>
                <a:latin typeface="Inter"/>
              </a:rPr>
              <a:t>Toujours utiliser une version exacte (@1.3.0) pas flottante (@1). Évite les régressions et optimise le cache navigateur.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114800"/>
            <a:ext cx="109728" cy="109728"/>
          </a:xfrm>
          <a:prstGeom prst="roundRect">
            <a:avLst/>
          </a:prstGeom>
          <a:solidFill>
            <a:srgbClr val="10C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0690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9416C"/>
                </a:solidFill>
                <a:latin typeface="Inter"/>
              </a:rPr>
              <a:t>Preconnect + Preload  </a:t>
            </a:r>
            <a:r>
              <a:rPr sz="1050">
                <a:solidFill>
                  <a:srgbClr val="545659"/>
                </a:solidFill>
                <a:latin typeface="Inter"/>
              </a:rPr>
              <a:t>Ajouter &lt;link rel="preconnect"&gt; vers CDN et tenant Qlik. Preload du script qlik-embed pour prioriser le téléchargement.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09160"/>
            <a:ext cx="109728" cy="109728"/>
          </a:xfrm>
          <a:prstGeom prst="roundRect">
            <a:avLst/>
          </a:prstGeom>
          <a:solidFill>
            <a:srgbClr val="009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6634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9416C"/>
                </a:solidFill>
                <a:latin typeface="Inter"/>
              </a:rPr>
              <a:t>Token 6h → refresh avant expiration  </a:t>
            </a:r>
            <a:r>
              <a:rPr sz="1050">
                <a:solidFill>
                  <a:srgbClr val="545659"/>
                </a:solidFill>
                <a:latin typeface="Inter"/>
              </a:rPr>
              <a:t>Le token Qlik expire à 6h. Renouveler 60s avant (backend + client). Évite les 401 en cours de session.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303520"/>
            <a:ext cx="109728" cy="109728"/>
          </a:xfrm>
          <a:prstGeom prst="roundRect">
            <a:avLst/>
          </a:prstGeom>
          <a:solidFill>
            <a:srgbClr val="10C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2578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9416C"/>
                </a:solidFill>
                <a:latin typeface="Inter"/>
              </a:rPr>
              <a:t>Section Access : casse  </a:t>
            </a:r>
            <a:r>
              <a:rPr sz="1050">
                <a:solidFill>
                  <a:srgbClr val="545659"/>
                </a:solidFill>
                <a:latin typeface="Inter"/>
              </a:rPr>
              <a:t>Qlik uppercase toutes les valeurs de Section Access. Les valeurs dans les champs de réduction doivent être en MAJUSCULES.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97880"/>
            <a:ext cx="109728" cy="109728"/>
          </a:xfrm>
          <a:prstGeom prst="roundRect">
            <a:avLst/>
          </a:prstGeom>
          <a:solidFill>
            <a:srgbClr val="009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8521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9416C"/>
                </a:solidFill>
                <a:latin typeface="Inter"/>
              </a:rPr>
              <a:t>Minimiser les appels API Qlik  </a:t>
            </a:r>
            <a:r>
              <a:rPr sz="1050">
                <a:solidFill>
                  <a:srgbClr val="545659"/>
                </a:solidFill>
                <a:latin typeface="Inter"/>
              </a:rPr>
              <a:t>Chaque appel /oauth/token compte dans les limites rate-limits Qlik. Le cache réduit de ~2 appels par chargement à ~1 appel toutes les 6h.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Qlik Color Palette">
      <a:dk1>
        <a:srgbClr val="545659"/>
      </a:dk1>
      <a:lt1>
        <a:srgbClr val="FFFFFF"/>
      </a:lt1>
      <a:dk2>
        <a:srgbClr val="19416C"/>
      </a:dk2>
      <a:lt2>
        <a:srgbClr val="F6F7F8"/>
      </a:lt2>
      <a:accent1>
        <a:srgbClr val="009845"/>
      </a:accent1>
      <a:accent2>
        <a:srgbClr val="19416C"/>
      </a:accent2>
      <a:accent3>
        <a:srgbClr val="006580"/>
      </a:accent3>
      <a:accent4>
        <a:srgbClr val="10CFC9"/>
      </a:accent4>
      <a:accent5>
        <a:srgbClr val="93579C"/>
      </a:accent5>
      <a:accent6>
        <a:srgbClr val="A9B3B6"/>
      </a:accent6>
      <a:hlink>
        <a:srgbClr val="19406C"/>
      </a:hlink>
      <a:folHlink>
        <a:srgbClr val="2D3543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Qlik Powerpoint_INSTRUCTIONS" id="{C118317D-9FB4-8C45-8421-2F4B74AF6920}" vid="{2874E7B9-0DC7-9C48-8302-25758D8B1A6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9080d49-e7be-4021-9aa2-ece0e2248fc1">
      <Terms xmlns="http://schemas.microsoft.com/office/infopath/2007/PartnerControls"/>
    </lcf76f155ced4ddcb4097134ff3c332f>
    <TaxCatchAll xmlns="daa02f57-d242-484a-912c-78bcbabd395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F427728134D8E438DB24F119626A238" ma:contentTypeVersion="14" ma:contentTypeDescription="Create a new document." ma:contentTypeScope="" ma:versionID="15b1c6c9529409184464fb081f076c90">
  <xsd:schema xmlns:xsd="http://www.w3.org/2001/XMLSchema" xmlns:xs="http://www.w3.org/2001/XMLSchema" xmlns:p="http://schemas.microsoft.com/office/2006/metadata/properties" xmlns:ns2="29080d49-e7be-4021-9aa2-ece0e2248fc1" xmlns:ns3="daa02f57-d242-484a-912c-78bcbabd3955" targetNamespace="http://schemas.microsoft.com/office/2006/metadata/properties" ma:root="true" ma:fieldsID="73ad68e9809497096c217967fc7c474d" ns2:_="" ns3:_="">
    <xsd:import namespace="29080d49-e7be-4021-9aa2-ece0e2248fc1"/>
    <xsd:import namespace="daa02f57-d242-484a-912c-78bcbabd39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080d49-e7be-4021-9aa2-ece0e2248f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23ae771-9a71-45a4-863b-ab0f59569b8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a02f57-d242-484a-912c-78bcbabd395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33981fe-ff8f-4cec-a916-8d5a12fc0ecc}" ma:internalName="TaxCatchAll" ma:showField="CatchAllData" ma:web="daa02f57-d242-484a-912c-78bcbabd395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BB892D9-32AE-49BC-8B71-5E32C1BA7217}">
  <ds:schemaRefs>
    <ds:schemaRef ds:uri="http://schemas.microsoft.com/office/2006/metadata/properties"/>
    <ds:schemaRef ds:uri="http://schemas.microsoft.com/office/infopath/2007/PartnerControls"/>
    <ds:schemaRef ds:uri="29080d49-e7be-4021-9aa2-ece0e2248fc1"/>
    <ds:schemaRef ds:uri="daa02f57-d242-484a-912c-78bcbabd3955"/>
  </ds:schemaRefs>
</ds:datastoreItem>
</file>

<file path=customXml/itemProps2.xml><?xml version="1.0" encoding="utf-8"?>
<ds:datastoreItem xmlns:ds="http://schemas.openxmlformats.org/officeDocument/2006/customXml" ds:itemID="{24F34C0B-EB86-4B76-A0DD-34D59967CAC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7B402B2-5E60-49FD-87AE-AA5D925E653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9080d49-e7be-4021-9aa2-ece0e2248fc1"/>
    <ds:schemaRef ds:uri="daa02f57-d242-484a-912c-78bcbabd395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1669</TotalTime>
  <Words>886</Words>
  <Application>Microsoft Macintosh PowerPoint</Application>
  <PresentationFormat>Widescreen</PresentationFormat>
  <Paragraphs>118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Inter</vt:lpstr>
      <vt:lpstr>Calibri</vt:lpstr>
      <vt:lpstr>Inter Light</vt:lpstr>
      <vt:lpstr>Arial</vt:lpstr>
      <vt:lpstr>Courier New</vt:lpstr>
      <vt:lpstr>Inter SemiBold</vt:lpstr>
      <vt:lpstr>Arial</vt:lpstr>
      <vt:lpstr>Office Theme</vt:lpstr>
      <vt:lpstr>Optimisation des performances
qlik-embed</vt:lpstr>
      <vt:lpstr>1. Cache du token d'impersonation</vt:lpstr>
      <vt:lpstr>2. Cache du token côté client</vt:lpstr>
      <vt:lpstr>3. Chargement différé (defer)</vt:lpstr>
      <vt:lpstr>4. Lazy loading (Intersection Observer)</vt:lpstr>
      <vt:lpstr>5. Version CDN figée</vt:lpstr>
      <vt:lpstr>PowerPoint Presentation</vt:lpstr>
      <vt:lpstr>Résultats d'optimisation : Avant vs Après</vt:lpstr>
      <vt:lpstr>Grille des optimisations appliquées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Swenson,Emily Claire</dc:creator>
  <cp:keywords/>
  <dc:description/>
  <cp:lastModifiedBy>Vincent Legeard</cp:lastModifiedBy>
  <cp:revision>62</cp:revision>
  <dcterms:created xsi:type="dcterms:W3CDTF">2023-12-06T17:57:31Z</dcterms:created>
  <dcterms:modified xsi:type="dcterms:W3CDTF">2026-06-17T07:46:36Z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0x0101001F427728134D8E438DB24F119626A238</vt:lpwstr>
  </property>
</Properties>
</file>